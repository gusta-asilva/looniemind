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d91b5cece34550" /><Relationship Type="http://schemas.openxmlformats.org/officeDocument/2006/relationships/extended-properties" Target="/docProps/app.xml" Id="R3c87b8faf29240b0" /><Relationship Type="http://schemas.openxmlformats.org/officeDocument/2006/relationships/officeDocument" Target="/ppt/presentation.xml" Id="Ra0e5eef06b2c44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d09c07e3f740cd"/>
  </p:sldMasterIdLst>
  <p:notesMasterIdLst>
    <p:notesMasterId xmlns:r="http://schemas.openxmlformats.org/officeDocument/2006/relationships" r:id="R7480b8e8d0a54ee2"/>
  </p:notesMasterIdLst>
  <p:sldIdLst>
    <p:sldId xmlns:r="http://schemas.openxmlformats.org/officeDocument/2006/relationships" id="256" r:id="Rb2b6c68865654fa2"/>
    <p:sldId xmlns:r="http://schemas.openxmlformats.org/officeDocument/2006/relationships" id="257" r:id="Rc33ae07da2b74dc4"/>
    <p:sldId xmlns:r="http://schemas.openxmlformats.org/officeDocument/2006/relationships" id="258" r:id="R038a514b97cd4713"/>
    <p:sldId xmlns:r="http://schemas.openxmlformats.org/officeDocument/2006/relationships" id="259" r:id="R0235215c7e3d41ce"/>
    <p:sldId xmlns:r="http://schemas.openxmlformats.org/officeDocument/2006/relationships" id="260" r:id="Rf8b2341daf294a9f"/>
    <p:sldId xmlns:r="http://schemas.openxmlformats.org/officeDocument/2006/relationships" id="261" r:id="Ra9c5450b2ce54a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8c64c6787e4777" /><Relationship Type="http://schemas.openxmlformats.org/officeDocument/2006/relationships/slideMaster" Target="/ppt/slideMasters/slideMaster1.xml" Id="R10d09c07e3f740cd" /><Relationship Type="http://schemas.openxmlformats.org/officeDocument/2006/relationships/notesMaster" Target="/ppt/notesMasters/notesMaster1.xml" Id="R7480b8e8d0a54ee2" /><Relationship Type="http://schemas.openxmlformats.org/officeDocument/2006/relationships/presProps" Target="/ppt/presProps.xml" Id="R1d670ff073d94b5d" /><Relationship Type="http://schemas.openxmlformats.org/officeDocument/2006/relationships/tableStyles" Target="/ppt/tableStyles.xml" Id="R5bb79922afb845b1" /><Relationship Type="http://schemas.openxmlformats.org/officeDocument/2006/relationships/slide" Target="/ppt/slides/slide1.xml" Id="Rb2b6c68865654fa2" /><Relationship Type="http://schemas.openxmlformats.org/officeDocument/2006/relationships/slide" Target="/ppt/slides/slide2.xml" Id="Rc33ae07da2b74dc4" /><Relationship Type="http://schemas.openxmlformats.org/officeDocument/2006/relationships/slide" Target="/ppt/slides/slide3.xml" Id="R038a514b97cd4713" /><Relationship Type="http://schemas.openxmlformats.org/officeDocument/2006/relationships/slide" Target="/ppt/slides/slide4.xml" Id="R0235215c7e3d41ce" /><Relationship Type="http://schemas.openxmlformats.org/officeDocument/2006/relationships/slide" Target="/ppt/slides/slide5.xml" Id="Rf8b2341daf294a9f" /><Relationship Type="http://schemas.openxmlformats.org/officeDocument/2006/relationships/slide" Target="/ppt/slides/slide6.xml" Id="Ra9c5450b2ce54a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b4538b652b49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b7add7d2f445dd" /><Relationship Type="http://schemas.openxmlformats.org/officeDocument/2006/relationships/notesMaster" Target="/ppt/notesMasters/notesMaster1.xml" Id="R100e07d580854a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3db20b4672482f" /><Relationship Type="http://schemas.openxmlformats.org/officeDocument/2006/relationships/notesMaster" Target="/ppt/notesMasters/notesMaster1.xml" Id="Rdc7ebfe3e7fd4f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3c376a75754f7b" /><Relationship Type="http://schemas.openxmlformats.org/officeDocument/2006/relationships/notesMaster" Target="/ppt/notesMasters/notesMaster1.xml" Id="R42f43d9f742946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3c3b32bd41471b" /><Relationship Type="http://schemas.openxmlformats.org/officeDocument/2006/relationships/notesMaster" Target="/ppt/notesMasters/notesMaster1.xml" Id="R03196ff5515f46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ed6b2aef6e4e80" /><Relationship Type="http://schemas.openxmlformats.org/officeDocument/2006/relationships/notesMaster" Target="/ppt/notesMasters/notesMaster1.xml" Id="R3fa275129d4943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8b19ed4df841fd" /><Relationship Type="http://schemas.openxmlformats.org/officeDocument/2006/relationships/notesMaster" Target="/ppt/notesMasters/notesMaster1.xml" Id="R1f1ed868a7c743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25s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LoonieMind é um projeto acadêmico de inteligência financeira preventiva, pensado para pequenos negócios. A proposta é ajudar o empreendedor a entender o seu caixa e identificar possíveis dificuldades antes que elas comprometam a operação. O sistema reúne organização das movimentações, previsão estatística e confirmação humana das sugestões.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Plano de negócio fornecido pelo usuário, slide 1: posicionamento e contexto acadêmico. O material identifica Fatec Zona Sul, Empreendedorismo, 2026. Autores do plano: David Ramos dos Santos, Felipe Silva Marcelino, Gabriel Izidoro Felix dos Santos e Lucas Emanuel Reis Silva. Implementação atual em README.md.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Material institucional: C:/Users/Gusta/Downloads/LoonieMind_Plano_de_Negocio_Apresentacao 5  -  Repaired.pptx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55s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foco inicial são micro e pequenas empresas de comércio e serviços que ainda não têm uma equipe financeira dedicada. A proposta de valor é organizar os registros e usar o histórico para apoiar o planejamento do caixa. No plano de negócio, a receita é proposta por assinatura do software, complementada por diagnóstico e treinamento. Esse é o modelo comercial planejado. A versão que demonstramos hoje funciona localmente e recebe dados por planilhas. A oferta por assinatura e as integrações com bancos ou sistemas de gestão dependem da evolução do produto e da validação com clientes.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Plano de negócio fornecido pelo usuário, slides 2 (público inicial), 5 (assinatura e serviços), 7 (posicionamento) e 15 (validação). Valores de planos, participação de mercado e projeções comerciais não são usados. O modelo SaaS é apresentado como proposta; não há alegação de vendas ou assinaturas em operação. Funcionalidades atuais: docs/MANUAL-SISTEMA-E-IA.md.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Material institucional: C:/Users/Gusta/Downloads/LoonieMind_Plano_de_Negocio_Apresentacao 5  -  Repaired.pptx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45s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 é uma tela real da aplicação, usando a empresa fictícia Aurora Comércio. O fluxo começa com a importação da planilha, a conferência da prévia e a revisão das categorias. O saldo consolidado representa o caixa desde a referência. Entradas, saídas e resultado mostram o período selecionado. O gráfico permite acompanhar a evolução do saldo, enquanto as pendências e a projeção ficam ao lado. Documento, contraparte, centro de custo e conta ajudam a conferir cada lançamento. Os dados apresentados aqui são sintéticos.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Captura da aplicação local, versão 1.1, empresa fictícia Aurora Comércio, em 27/10/2026. docs/01-prototipacao/dashboard-apresentacao-v1.1.jpg. Dados sintéticos de datasets/sintetica-v2.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Material institucional: C:/Users/Gusta/Downloads/LoonieMind_Plano_de_Negocio_Apresentacao 5  -  Repaired.pptx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60s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primeira aplicação de inteligência artificial é a classificação. A descrição é convertida em números por TF-IDF de palavras e caracteres. Um classificador LightGBM aprende a sugerir tipo e categoria. A base tem quatorze mil e quatrocentos exemplos em doze classes. Variações da mesma família de descrição ficam juntas, para evitar repetir o mesmo padrão no treino e no teste. O F1 macro medido no teste foi zero vírgula seis sete seis seis. Esse resultado é sintético e não garante a qualidade em empresas reais. A pessoa confirma ou corrige as sugestões. As correções só entram no modelo depois de um novo treinamento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docs/relatorios/avaliacao-v1.1.json: modelo 16d06098da41, F1 macro de teste 0,6766, validação 0,6034. Base: 14.400 exemplos, 288 famílias, 12 classes. Código: looniemind/models.py. Conceitos: https://scikit-learn.org/stable/modules/feature_extraction.html e https://scikit-learn.org/stable/modules/generated/sklearn.metrics.f1_score.html.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Material institucional: C:/Users/Gusta/Downloads/LoonieMind_Plano_de_Negocio_Apresentacao 5  -  Repaired.pptx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55s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segunda aplicação é a previsão do fluxo de caixa. O sistema estima receitas e despesas separadamente e combina as duas com o saldo atual. Com histórico suficiente, compara o LightGBM Regressor com a repetição do padrão semanal. Os dias mais recentes são reservados para uma validação cronológica, sem consultar o futuro. O método com menor erro é escolhido para cada série. No cenário Aurora, o erro médio diário das receitas foi de cerca de cento e trinta e seis reais, frente a cento e quarenta e seis da referência. Em outro cenário, o padrão semanal venceu. A projeção é uma estimativa e exige acompanhamento do caixa realizado.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docs/relatorios/avaliacao-v1.1.json, Aurora/receitas: MAE LightGBM R$ 135,89/dia; referência semanal R$ 145,59/dia, janela 07–27/10/2026. Studio/receitas: referência escolhida. A mesma janela é usada para comparar e selecionar o método, sem teste externo independente. Código: ForecastService em looniemind/models.py. https://lightgbm.readthedocs.io/en/stable/Python-API.html.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Material institucional: C:/Users/Gusta/Downloads/LoonieMind_Plano_de_Negocio_Apresentacao 5  -  Repaired.pptx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40s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Hoje, o protótipo reúne importação, revisão, dashboard, previsão, relatórios e backup em uma aplicação local. O plano de negócio propõe evoluir essa solução para uma oferta por assinatura. Os próximos passos são validar as hipóteses com empresas-piloto, avaliar os modelos com dados reais e preparar a operação do serviço. A ideia central da LoonieMind é apoiar o pequeno empreendedor com uma leitura preventiva do caixa, mantendo transparência sobre os dados e sobre os limites da inteligência artificial.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Plano de negócio do usuário, slides 5 e 15: assinatura e validação por entrevistas/pilotos, tratados como planos. Funcionalidades e limites atuais em docs/DECISOES-E-ESCOPO.md. Quantidade de movimentos sintéticos em datasets/sintetica-v2/manifesto.json.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Material institucional: C:/Users/Gusta/Downloads/LoonieMind_Plano_de_Negocio_Apresentacao 5  -  Repaired.pptx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fd224bc5c4d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a00c665ab4c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878b28f4743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47120a22f44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793e8fa9a46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1b31b81a824b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33945F-D109-44E5-AED1-DC991E7EF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9F8F39-01C6-4D32-91AC-9D1BA1BED5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546D66-7D3C-4CEF-ACB2-0E00CC5190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B44524-4A36-4486-99E0-7352C020F4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E27E56-DCAD-4C2F-86A9-4D2D9CA28E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4CCE03-042C-43C2-9A49-EFDB9F468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1F0DFC-2D24-46B5-B277-0519D41E8F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0B4207-1B9B-4EB5-BC58-D02D4A1D04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03B9D4-2810-4CA1-83B7-808B8087B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24E17A-9FE6-4113-B716-336FD8B16D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d95429795747d2" /><Relationship Type="http://schemas.openxmlformats.org/officeDocument/2006/relationships/slideLayout" Target="/ppt/slideLayouts/slideLayout1.xml" Id="R29ce20918f21479c" /><Relationship Type="http://schemas.openxmlformats.org/officeDocument/2006/relationships/slideLayout" Target="/ppt/slideLayouts/slideLayout2.xml" Id="Re45042c3a4114f65" /><Relationship Type="http://schemas.openxmlformats.org/officeDocument/2006/relationships/slideLayout" Target="/ppt/slideLayouts/slideLayout3.xml" Id="Rbca8c80478ff46b8" /><Relationship Type="http://schemas.openxmlformats.org/officeDocument/2006/relationships/slideLayout" Target="/ppt/slideLayouts/slideLayout4.xml" Id="Rfd051f1695e14ca5" /><Relationship Type="http://schemas.openxmlformats.org/officeDocument/2006/relationships/slideLayout" Target="/ppt/slideLayouts/slideLayout5.xml" Id="Rc9f14f63c6f14943" /><Relationship Type="http://schemas.openxmlformats.org/officeDocument/2006/relationships/slideLayout" Target="/ppt/slideLayouts/slideLayout6.xml" Id="Raef8229784614d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ce20918f21479c"/>
    <p:sldLayoutId xmlns:r="http://schemas.openxmlformats.org/officeDocument/2006/relationships" id="2147483650" r:id="Re45042c3a4114f65"/>
    <p:sldLayoutId xmlns:r="http://schemas.openxmlformats.org/officeDocument/2006/relationships" id="2147483651" r:id="Rbca8c80478ff46b8"/>
    <p:sldLayoutId xmlns:r="http://schemas.openxmlformats.org/officeDocument/2006/relationships" id="2147483652" r:id="Rfd051f1695e14ca5"/>
    <p:sldLayoutId xmlns:r="http://schemas.openxmlformats.org/officeDocument/2006/relationships" id="2147483653" r:id="Rc9f14f63c6f14943"/>
    <p:sldLayoutId xmlns:r="http://schemas.openxmlformats.org/officeDocument/2006/relationships" id="2147483654" r:id="Raef8229784614d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57c7525e34b9f" /><Relationship Type="http://schemas.openxmlformats.org/officeDocument/2006/relationships/notesSlide" Target="/ppt/notesSlides/notesSlide1.xml" Id="R0e0d3ba16c744e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b2889a791434a" /><Relationship Type="http://schemas.openxmlformats.org/officeDocument/2006/relationships/notesSlide" Target="/ppt/notesSlides/notesSlide2.xml" Id="R4fdcfcf924264e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e330047e3d427e" /><Relationship Type="http://schemas.openxmlformats.org/officeDocument/2006/relationships/image" Target="/ppt/media/image.jpeg" Id="R57f209ca97554dee" /><Relationship Type="http://schemas.openxmlformats.org/officeDocument/2006/relationships/notesSlide" Target="/ppt/notesSlides/notesSlide3.xml" Id="R41a106906f9844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6060b66d347f4" /><Relationship Type="http://schemas.openxmlformats.org/officeDocument/2006/relationships/notesSlide" Target="/ppt/notesSlides/notesSlide4.xml" Id="Rc36361668e6544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1bd09c2ad4a28" /><Relationship Type="http://schemas.openxmlformats.org/officeDocument/2006/relationships/chart" Target="/ppt/slides/charts/chart1.xml" Id="R2c12fcefd34b41b7" /><Relationship Type="http://schemas.openxmlformats.org/officeDocument/2006/relationships/notesSlide" Target="/ppt/notesSlides/notesSlide5.xml" Id="Re3da6fa85a8545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41fe3363f4dee" /><Relationship Type="http://schemas.openxmlformats.org/officeDocument/2006/relationships/notesSlide" Target="/ppt/notesSlides/notesSlide6.xml" Id="Rc9815575e300493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MAE das receitas · Aurora (R$/dia)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73C35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 (R$/dia)</c:v>
          </c:tx>
          <c:spPr>
            <a:solidFill xmlns:a="http://schemas.openxmlformats.org/drawingml/2006/main">
              <a:srgbClr val="258F83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LightGBM</c:v>
                </c:pt>
                <c:pt idx="1">
                  <c:v>Referência semanal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135.89</c:v>
                </c:pt>
                <c:pt idx="1">
                  <c:v>145.59</c:v>
                </c:pt>
              </c:numCache>
            </c:numRef>
          </c:val>
        </c:ser>
        <c:dLbls>
          <c:numFmt formatCode="&quot;R$&quot; 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3C3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E3D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3D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6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oonieMind.">
            <a:extLst xmlns:a="http://schemas.openxmlformats.org/drawingml/2006/main">
              <a:ext uri="{FF2B5EF4-FFF2-40B4-BE49-F238E27FC236}">
                <a16:creationId xmlns:a16="http://schemas.microsoft.com/office/drawing/2014/main" id="{17612F31-D0BC-4779-B4B2-C3A64200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LoonieMind.</a:t>
            </a:r>
          </a:p>
        </p:txBody>
      </p:sp>
      <p:sp>
        <p:nvSpPr>
          <p:cNvPr id="2" name="Finanças com clareza&#10;para pequenos neg">
            <a:extLst xmlns:a="http://schemas.openxmlformats.org/drawingml/2006/main">
              <a:ext uri="{FF2B5EF4-FFF2-40B4-BE49-F238E27FC236}">
                <a16:creationId xmlns:a16="http://schemas.microsoft.com/office/drawing/2014/main" id="{1DBE51F5-0A33-424D-B5D7-6CB5C39F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Inteligência financeira preventiva</a:t>
            </a:r>
          </a:p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pequenos negócios</a:t>
            </a:r>
          </a:p>
        </p:txBody>
      </p:sp>
      <p:sp>
        <p:nvSpPr>
          <p:cNvPr id="3" name="Organização financeira e IA sob superv">
            <a:extLst xmlns:a="http://schemas.openxmlformats.org/drawingml/2006/main">
              <a:ext uri="{FF2B5EF4-FFF2-40B4-BE49-F238E27FC236}">
                <a16:creationId xmlns:a16="http://schemas.microsoft.com/office/drawing/2014/main" id="{A06E85FD-7EA8-47F4-8A23-807219D3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EE5DA"/>
                </a:solidFill>
                <a:latin typeface="Arial"/>
                <a:ea typeface="Arial"/>
                <a:cs typeface="Arial"/>
              </a:rPr>
              <a:t>Organização do caixa, previsão e revisão humana</a:t>
            </a:r>
          </a:p>
        </p:txBody>
      </p:sp>
      <p:sp>
        <p:nvSpPr>
          <p:cNvPr id="4" name="PROPOSTA DE SOLUÇÃO · APLICAÇÃO LOCAL">
            <a:extLst xmlns:a="http://schemas.openxmlformats.org/drawingml/2006/main">
              <a:ext uri="{FF2B5EF4-FFF2-40B4-BE49-F238E27FC236}">
                <a16:creationId xmlns:a16="http://schemas.microsoft.com/office/drawing/2014/main" id="{39B806C4-4AD2-499E-A6E1-CBDBF721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53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DBD"/>
                </a:solidFill>
                <a:latin typeface="Arial"/>
                <a:ea typeface="Arial"/>
                <a:cs typeface="Arial"/>
              </a:rPr>
              <a:t>PROJETO ACADÊMICO · FATEC ZONA SUL · EMPREENDEDORISMO · 2026</a:t>
            </a:r>
          </a:p>
        </p:txBody>
      </p:sp>
    </p:spTree>
    <p:extLst>
      <p:ext uri="{BB962C8B-B14F-4D97-AF65-F5344CB8AC3E}">
        <p14:creationId xmlns:p14="http://schemas.microsoft.com/office/powerpoint/2010/main" val="6379373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OONIEMIND">
            <a:extLst xmlns:a="http://schemas.openxmlformats.org/drawingml/2006/main">
              <a:ext uri="{FF2B5EF4-FFF2-40B4-BE49-F238E27FC236}">
                <a16:creationId xmlns:a16="http://schemas.microsoft.com/office/drawing/2014/main" id="{17511603-93C5-46FE-9C1E-847BE61F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Da planilha à decisão.">
            <a:extLst xmlns:a="http://schemas.openxmlformats.org/drawingml/2006/main">
              <a:ext uri="{FF2B5EF4-FFF2-40B4-BE49-F238E27FC236}">
                <a16:creationId xmlns:a16="http://schemas.microsoft.com/office/drawing/2014/main" id="{60DDE686-9F80-4DDC-A0DC-D1AE3FAC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A empresa e sua proposta</a:t>
            </a:r>
          </a:p>
        </p:txBody>
      </p:sp>
      <p:sp>
        <p:nvSpPr>
          <p:cNvPr id="3" name="Uma rotina para reunir registros, revi">
            <a:extLst xmlns:a="http://schemas.openxmlformats.org/drawingml/2006/main">
              <a:ext uri="{FF2B5EF4-FFF2-40B4-BE49-F238E27FC236}">
                <a16:creationId xmlns:a16="http://schemas.microsoft.com/office/drawing/2014/main" id="{368A0AEE-F195-47A9-8169-83AFA124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Versão atual: aplicação local. Oferta por assinatura ainda planejada.</a:t>
            </a:r>
          </a:p>
        </p:txBody>
      </p:sp>
      <p:sp>
        <p:nvSpPr>
          <p:cNvPr id="4" name="LoonieMind · Projeto de gestão finance">
            <a:extLst xmlns:a="http://schemas.openxmlformats.org/drawingml/2006/main">
              <a:ext uri="{FF2B5EF4-FFF2-40B4-BE49-F238E27FC236}">
                <a16:creationId xmlns:a16="http://schemas.microsoft.com/office/drawing/2014/main" id="{325D4105-8A82-4C66-91E0-C3F83079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BFF1C60F-6340-4320-8236-ED7CAF0F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Importar e conferir">
            <a:extLst xmlns:a="http://schemas.openxmlformats.org/drawingml/2006/main">
              <a:ext uri="{FF2B5EF4-FFF2-40B4-BE49-F238E27FC236}">
                <a16:creationId xmlns:a16="http://schemas.microsoft.com/office/drawing/2014/main" id="{BCDF5AC7-EB9C-4A22-91E1-DF53223A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Público-alvo</a:t>
            </a:r>
          </a:p>
        </p:txBody>
      </p:sp>
      <p:sp>
        <p:nvSpPr>
          <p:cNvPr id="8" name="Prévia, validação e origem dos dados.">
            <a:extLst xmlns:a="http://schemas.openxmlformats.org/drawingml/2006/main">
              <a:ext uri="{FF2B5EF4-FFF2-40B4-BE49-F238E27FC236}">
                <a16:creationId xmlns:a16="http://schemas.microsoft.com/office/drawing/2014/main" id="{80643ABB-5E29-45A7-AFE1-931E5ED3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38375"/>
            <a:ext cx="76485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Micro e pequenas empresas de comércio e serviços,</a:t>
            </a:r>
          </a:p>
          <a:p xmlns:a="http://schemas.openxmlformats.org/drawingml/2006/main">
            <a:pPr>
              <a:buNone/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sem equipe financeira dedicada.</a:t>
            </a:r>
          </a:p>
        </p:txBody>
      </p:sp>
      <p:sp>
        <p:nvSpPr>
          <p:cNvPr id="10" name="Revisar categorias">
            <a:extLst xmlns:a="http://schemas.openxmlformats.org/drawingml/2006/main">
              <a:ext uri="{FF2B5EF4-FFF2-40B4-BE49-F238E27FC236}">
                <a16:creationId xmlns:a16="http://schemas.microsoft.com/office/drawing/2014/main" id="{0D29F6E0-97DC-4049-8B2F-8DF73DB7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Proposta de valor</a:t>
            </a:r>
          </a:p>
        </p:txBody>
      </p:sp>
      <p:sp>
        <p:nvSpPr>
          <p:cNvPr id="11" name="Sugestões com confirmação humana.">
            <a:extLst xmlns:a="http://schemas.openxmlformats.org/drawingml/2006/main">
              <a:ext uri="{FF2B5EF4-FFF2-40B4-BE49-F238E27FC236}">
                <a16:creationId xmlns:a16="http://schemas.microsoft.com/office/drawing/2014/main" id="{DF5121F0-01F9-4DA1-8609-BE27162D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76625"/>
            <a:ext cx="76485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Classificar movimentações e antecipar o caixa</a:t>
            </a:r>
          </a:p>
          <a:p xmlns:a="http://schemas.openxmlformats.org/drawingml/2006/main">
            <a:pPr>
              <a:buNone/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para apoiar o planejamento do empreendedor.</a:t>
            </a:r>
          </a:p>
        </p:txBody>
      </p:sp>
      <p:sp>
        <p:nvSpPr>
          <p:cNvPr id="13" name="Acompanhar o caixa">
            <a:extLst xmlns:a="http://schemas.openxmlformats.org/drawingml/2006/main">
              <a:ext uri="{FF2B5EF4-FFF2-40B4-BE49-F238E27FC236}">
                <a16:creationId xmlns:a16="http://schemas.microsoft.com/office/drawing/2014/main" id="{1976BDE5-6813-4974-B297-D304FC4B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Modelo proposto</a:t>
            </a:r>
          </a:p>
        </p:txBody>
      </p:sp>
      <p:sp>
        <p:nvSpPr>
          <p:cNvPr id="14" name="Saldo, resultado e estimativa futura.">
            <a:extLst xmlns:a="http://schemas.openxmlformats.org/drawingml/2006/main">
              <a:ext uri="{FF2B5EF4-FFF2-40B4-BE49-F238E27FC236}">
                <a16:creationId xmlns:a16="http://schemas.microsoft.com/office/drawing/2014/main" id="{719A20DE-7388-44F4-B531-1FA4E079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14875"/>
            <a:ext cx="76485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Software por assinatura, com diagnóstico</a:t>
            </a:r>
          </a:p>
          <a:p xmlns:a="http://schemas.openxmlformats.org/drawingml/2006/main">
            <a:pPr>
              <a:buNone/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e treinamento como serviços adicionais.</a:t>
            </a:r>
          </a:p>
        </p:txBody>
      </p:sp>
    </p:spTree>
    <p:extLst>
      <p:ext uri="{BB962C8B-B14F-4D97-AF65-F5344CB8AC3E}">
        <p14:creationId xmlns:p14="http://schemas.microsoft.com/office/powerpoint/2010/main" val="1607244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OONIEMIND">
            <a:extLst xmlns:a="http://schemas.openxmlformats.org/drawingml/2006/main">
              <a:ext uri="{FF2B5EF4-FFF2-40B4-BE49-F238E27FC236}">
                <a16:creationId xmlns:a16="http://schemas.microsoft.com/office/drawing/2014/main" id="{5D2B9E6F-064E-4AAA-9697-7A94515B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O que importa aparece primeiro.">
            <a:extLst xmlns:a="http://schemas.openxmlformats.org/drawingml/2006/main">
              <a:ext uri="{FF2B5EF4-FFF2-40B4-BE49-F238E27FC236}">
                <a16:creationId xmlns:a16="http://schemas.microsoft.com/office/drawing/2014/main" id="{22FC3B5E-BEAB-4E54-86FA-02F854A9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O que importa aparece primeiro.</a:t>
            </a:r>
          </a:p>
        </p:txBody>
      </p:sp>
      <p:sp>
        <p:nvSpPr>
          <p:cNvPr id="3" name="LoonieMind · Projeto de gestão finance">
            <a:extLst xmlns:a="http://schemas.openxmlformats.org/drawingml/2006/main">
              <a:ext uri="{FF2B5EF4-FFF2-40B4-BE49-F238E27FC236}">
                <a16:creationId xmlns:a16="http://schemas.microsoft.com/office/drawing/2014/main" id="{C49FCDAC-D3E0-4B45-A0D3-CE5AD8F2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80EFCE31-B8D9-4042-BA3A-4200E043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Saldo consolidado">
            <a:extLst xmlns:a="http://schemas.openxmlformats.org/drawingml/2006/main">
              <a:ext uri="{FF2B5EF4-FFF2-40B4-BE49-F238E27FC236}">
                <a16:creationId xmlns:a16="http://schemas.microsoft.com/office/drawing/2014/main" id="{A3B883E9-F89D-43EC-A8BB-55259AF4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Saldo consolidado</a:t>
            </a:r>
          </a:p>
        </p:txBody>
      </p:sp>
      <p:sp>
        <p:nvSpPr>
          <p:cNvPr id="6" name="Quanto há no caixa desde a referência.">
            <a:extLst xmlns:a="http://schemas.openxmlformats.org/drawingml/2006/main">
              <a:ext uri="{FF2B5EF4-FFF2-40B4-BE49-F238E27FC236}">
                <a16:creationId xmlns:a16="http://schemas.microsoft.com/office/drawing/2014/main" id="{C1CAD5FD-9301-4137-A644-F284A486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76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Quanto há no caixa desde a referência.</a:t>
            </a:r>
          </a:p>
        </p:txBody>
      </p:sp>
      <p:sp>
        <p:nvSpPr>
          <p:cNvPr id="7" name="Resultado do período">
            <a:extLst xmlns:a="http://schemas.openxmlformats.org/drawingml/2006/main">
              <a:ext uri="{FF2B5EF4-FFF2-40B4-BE49-F238E27FC236}">
                <a16:creationId xmlns:a16="http://schemas.microsoft.com/office/drawing/2014/main" id="{B8B7DD1C-5AAB-4268-8575-6C3DA062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Resultado do período</a:t>
            </a:r>
          </a:p>
        </p:txBody>
      </p:sp>
      <p:sp>
        <p:nvSpPr>
          <p:cNvPr id="8" name="Entradas e saídas da janela selecionad">
            <a:extLst xmlns:a="http://schemas.openxmlformats.org/drawingml/2006/main">
              <a:ext uri="{FF2B5EF4-FFF2-40B4-BE49-F238E27FC236}">
                <a16:creationId xmlns:a16="http://schemas.microsoft.com/office/drawing/2014/main" id="{49DC32E8-F9C2-4428-A0B1-237613B2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3762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Entradas e saídas da janela selecionada.</a:t>
            </a:r>
          </a:p>
        </p:txBody>
      </p:sp>
      <p:sp>
        <p:nvSpPr>
          <p:cNvPr id="9" name="Pendências e próximos dias">
            <a:extLst xmlns:a="http://schemas.openxmlformats.org/drawingml/2006/main">
              <a:ext uri="{FF2B5EF4-FFF2-40B4-BE49-F238E27FC236}">
                <a16:creationId xmlns:a16="http://schemas.microsoft.com/office/drawing/2014/main" id="{6BB9A209-661D-421C-8C49-B463A2CA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Pendências e próximos dias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AF1EA-3F12-4BAF-AB75-343DCD62DA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209ca97554dee"/>
          <a:stretch xmlns:a="http://schemas.openxmlformats.org/drawingml/2006/main"/>
        </p:blipFill>
        <p:spPr>
          <a:xfrm xmlns:a="http://schemas.openxmlformats.org/drawingml/2006/main">
            <a:off x="5029200" y="1698207"/>
            <a:ext cx="6477000" cy="44998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3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OONIEMIND">
            <a:extLst xmlns:a="http://schemas.openxmlformats.org/drawingml/2006/main">
              <a:ext uri="{FF2B5EF4-FFF2-40B4-BE49-F238E27FC236}">
                <a16:creationId xmlns:a16="http://schemas.microsoft.com/office/drawing/2014/main" id="{3BB3040D-DDD2-4F06-885C-F4306AFF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IA para sugerir. Revisão para confirma">
            <a:extLst xmlns:a="http://schemas.openxmlformats.org/drawingml/2006/main">
              <a:ext uri="{FF2B5EF4-FFF2-40B4-BE49-F238E27FC236}">
                <a16:creationId xmlns:a16="http://schemas.microsoft.com/office/drawing/2014/main" id="{68571FE6-DBCA-4EB2-9B68-41ED9253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IA para sugerir. Revisão para confirmar.</a:t>
            </a:r>
          </a:p>
        </p:txBody>
      </p:sp>
      <p:sp>
        <p:nvSpPr>
          <p:cNvPr id="3" name="Descrição → TF-IDF de palavras e carac">
            <a:extLst xmlns:a="http://schemas.openxmlformats.org/drawingml/2006/main">
              <a:ext uri="{FF2B5EF4-FFF2-40B4-BE49-F238E27FC236}">
                <a16:creationId xmlns:a16="http://schemas.microsoft.com/office/drawing/2014/main" id="{4E3C2510-DDEA-440D-B8A1-109A95E0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Descrição → TF-IDF de palavras e caracteres → LightGBM → revisão</a:t>
            </a:r>
          </a:p>
        </p:txBody>
      </p:sp>
      <p:sp>
        <p:nvSpPr>
          <p:cNvPr id="4" name="LoonieMind · Projeto de gestão finance">
            <a:extLst xmlns:a="http://schemas.openxmlformats.org/drawingml/2006/main">
              <a:ext uri="{FF2B5EF4-FFF2-40B4-BE49-F238E27FC236}">
                <a16:creationId xmlns:a16="http://schemas.microsoft.com/office/drawing/2014/main" id="{F5EC6FD6-F6EF-407E-B9BE-06F85519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46363CD2-2E6A-4F1E-92A6-7B2954C4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14.400 exemplos · 12 classes">
            <a:extLst xmlns:a="http://schemas.openxmlformats.org/drawingml/2006/main">
              <a:ext uri="{FF2B5EF4-FFF2-40B4-BE49-F238E27FC236}">
                <a16:creationId xmlns:a16="http://schemas.microsoft.com/office/drawing/2014/main" id="{0CF45812-6C00-4715-8E94-CBB6C518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14.400 exemplos · 12 classes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448FB-29FB-4AB7-805A-CE4A19A31CF4}"/>
              </a:ext>
            </a:extLst>
          </p:cNvPr>
          <p:cNvGraphicFramePr/>
          <p:nvPr/>
        </p:nvGraphicFramePr>
        <p:xfrm>
          <a:off xmlns:a="http://schemas.openxmlformats.org/drawingml/2006/main" x="685800" y="3514725"/>
          <a:ext xmlns:a="http://schemas.openxmlformats.org/drawingml/2006/main" cx="6324600" cy="2124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809750"/>
                <a:gridCol w="1657350"/>
              </a:tblGrid>
              <a:tr h="531019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Partição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3DB"/>
                      </a:solidFill>
                      <a:prstDash val="solid"/>
                    </a:lnL>
                    <a:lnR w="9525">
                      <a:solidFill>
                        <a:srgbClr val="D5E3DB"/>
                      </a:solidFill>
                      <a:prstDash val="solid"/>
                    </a:lnR>
                    <a:lnT w="9525">
                      <a:solidFill>
                        <a:srgbClr val="D5E3DB"/>
                      </a:solidFill>
                      <a:prstDash val="solid"/>
                    </a:lnT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173C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Exemplos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T w="9525">
                      <a:solidFill>
                        <a:srgbClr val="D5E3DB"/>
                      </a:solidFill>
                      <a:prstDash val="solid"/>
                    </a:lnT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173C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Famílias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T w="9525">
                      <a:solidFill>
                        <a:srgbClr val="D5E3DB"/>
                      </a:solidFill>
                      <a:prstDash val="solid"/>
                    </a:lnT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173C35"/>
                    </a:solidFill>
                  </a:tcPr>
                </a:tc>
              </a:tr>
              <a:tr h="53101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Treino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3DB"/>
                      </a:solidFill>
                      <a:prstDash val="solid"/>
                    </a:lnL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9.600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Validação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3DB"/>
                      </a:solidFill>
                      <a:prstDash val="solid"/>
                    </a:lnL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2.400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</a:tr>
              <a:tr h="53101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Teste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3DB"/>
                      </a:solidFill>
                      <a:prstDash val="solid"/>
                    </a:lnL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2.400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0,6766">
            <a:extLst xmlns:a="http://schemas.openxmlformats.org/drawingml/2006/main">
              <a:ext uri="{FF2B5EF4-FFF2-40B4-BE49-F238E27FC236}">
                <a16:creationId xmlns:a16="http://schemas.microsoft.com/office/drawing/2014/main" id="{4FC821FB-954D-48EA-85FC-98A3B0CA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052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0,6766</a:t>
            </a:r>
          </a:p>
        </p:txBody>
      </p:sp>
      <p:sp>
        <p:nvSpPr>
          <p:cNvPr id="9" name="F1 macro no teste">
            <a:extLst xmlns:a="http://schemas.openxmlformats.org/drawingml/2006/main">
              <a:ext uri="{FF2B5EF4-FFF2-40B4-BE49-F238E27FC236}">
                <a16:creationId xmlns:a16="http://schemas.microsoft.com/office/drawing/2014/main" id="{BB5917B4-5DDC-48FF-8CB4-41A0F48C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0057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F1 macro no teste</a:t>
            </a:r>
          </a:p>
        </p:txBody>
      </p:sp>
      <p:sp>
        <p:nvSpPr>
          <p:cNvPr id="10" name="Resultado sintético.&#10;Validação real ai">
            <a:extLst xmlns:a="http://schemas.openxmlformats.org/drawingml/2006/main">
              <a:ext uri="{FF2B5EF4-FFF2-40B4-BE49-F238E27FC236}">
                <a16:creationId xmlns:a16="http://schemas.microsoft.com/office/drawing/2014/main" id="{E0A87BF4-6CE4-4706-9AE2-75FBF565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33975"/>
            <a:ext cx="3619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Resultado sintético.</a:t>
            </a:r>
          </a:p>
          <a:p xmlns:a="http://schemas.openxmlformats.org/drawingml/2006/main">
            <a: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Validação real ainda necessária.</a:t>
            </a:r>
          </a:p>
        </p:txBody>
      </p:sp>
      <p:sp>
        <p:nvSpPr>
          <p:cNvPr id="11" name="Famílias de descrição não são comparti">
            <a:extLst xmlns:a="http://schemas.openxmlformats.org/drawingml/2006/main">
              <a:ext uri="{FF2B5EF4-FFF2-40B4-BE49-F238E27FC236}">
                <a16:creationId xmlns:a16="http://schemas.microsoft.com/office/drawing/2014/main" id="{3FC91C0B-5261-4E54-A01D-9F9B1D5C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Famílias de descrição não são compartilhadas entre as partições.</a:t>
            </a:r>
          </a:p>
        </p:txBody>
      </p:sp>
    </p:spTree>
    <p:extLst>
      <p:ext uri="{BB962C8B-B14F-4D97-AF65-F5344CB8AC3E}">
        <p14:creationId xmlns:p14="http://schemas.microsoft.com/office/powerpoint/2010/main" val="13805430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OONIEMIND">
            <a:extLst xmlns:a="http://schemas.openxmlformats.org/drawingml/2006/main">
              <a:ext uri="{FF2B5EF4-FFF2-40B4-BE49-F238E27FC236}">
                <a16:creationId xmlns:a16="http://schemas.microsoft.com/office/drawing/2014/main" id="{48A30B11-1E33-4747-9782-745ECE55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Prever é também medir o erro.">
            <a:extLst xmlns:a="http://schemas.openxmlformats.org/drawingml/2006/main">
              <a:ext uri="{FF2B5EF4-FFF2-40B4-BE49-F238E27FC236}">
                <a16:creationId xmlns:a16="http://schemas.microsoft.com/office/drawing/2014/main" id="{E94A6394-607F-4405-AAC5-D94C745E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Prever é também medir o erro.</a:t>
            </a:r>
          </a:p>
        </p:txBody>
      </p:sp>
      <p:sp>
        <p:nvSpPr>
          <p:cNvPr id="3" name="Receitas e despesas são estimadas sepa">
            <a:extLst xmlns:a="http://schemas.openxmlformats.org/drawingml/2006/main">
              <a:ext uri="{FF2B5EF4-FFF2-40B4-BE49-F238E27FC236}">
                <a16:creationId xmlns:a16="http://schemas.microsoft.com/office/drawing/2014/main" id="{324B6AC4-05B1-430D-9F0E-E03C19EC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Receitas e despesas são estimadas separadamente, com comparação temporal.</a:t>
            </a:r>
          </a:p>
        </p:txBody>
      </p:sp>
      <p:sp>
        <p:nvSpPr>
          <p:cNvPr id="4" name="LoonieMind · Projeto de gestão finance">
            <a:extLst xmlns:a="http://schemas.openxmlformats.org/drawingml/2006/main">
              <a:ext uri="{FF2B5EF4-FFF2-40B4-BE49-F238E27FC236}">
                <a16:creationId xmlns:a16="http://schemas.microsoft.com/office/drawing/2014/main" id="{25D90C10-8546-4ADD-81A7-B79A8956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4C633EA2-71E1-4220-B5BD-AEA44433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2BD9DAD-52D0-4709-AA30-4B05F789D9C6}"/>
              </a:ext>
            </a:extLst>
          </p:cNvPr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619125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12fcefd34b41b7"/>
          </a:graphicData>
        </a:graphic>
      </p:graphicFrame>
      <p:sp>
        <p:nvSpPr>
          <p:cNvPr id="7" name="21 dias reservados">
            <a:extLst xmlns:a="http://schemas.openxmlformats.org/drawingml/2006/main">
              <a:ext uri="{FF2B5EF4-FFF2-40B4-BE49-F238E27FC236}">
                <a16:creationId xmlns:a16="http://schemas.microsoft.com/office/drawing/2014/main" id="{43BB0051-5703-490D-ABEB-439B06E5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2892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21 dias reservados</a:t>
            </a:r>
          </a:p>
        </p:txBody>
      </p:sp>
      <p:sp>
        <p:nvSpPr>
          <p:cNvPr id="8" name="Validação cronológica,&#10;sem consultar o">
            <a:extLst xmlns:a="http://schemas.openxmlformats.org/drawingml/2006/main">
              <a:ext uri="{FF2B5EF4-FFF2-40B4-BE49-F238E27FC236}">
                <a16:creationId xmlns:a16="http://schemas.microsoft.com/office/drawing/2014/main" id="{B8F453FC-4A3D-485A-A666-B2EA4C8A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3337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Validação cronológica,</a:t>
            </a:r>
          </a:p>
          <a:p xmlns:a="http://schemas.openxmlformats.org/drawingml/2006/main">
            <a: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sem consultar o futuro.</a:t>
            </a:r>
          </a:p>
        </p:txBody>
      </p:sp>
      <p:sp>
        <p:nvSpPr>
          <p:cNvPr id="9" name="O menor erro decide">
            <a:extLst xmlns:a="http://schemas.openxmlformats.org/drawingml/2006/main">
              <a:ext uri="{FF2B5EF4-FFF2-40B4-BE49-F238E27FC236}">
                <a16:creationId xmlns:a16="http://schemas.microsoft.com/office/drawing/2014/main" id="{76A1A937-B654-4938-AF03-D3FC70EE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434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O menor erro decide</a:t>
            </a:r>
          </a:p>
        </p:txBody>
      </p:sp>
      <p:sp>
        <p:nvSpPr>
          <p:cNvPr id="10" name="A referência semanal venceu nas receit">
            <a:extLst xmlns:a="http://schemas.openxmlformats.org/drawingml/2006/main">
              <a:ext uri="{FF2B5EF4-FFF2-40B4-BE49-F238E27FC236}">
                <a16:creationId xmlns:a16="http://schemas.microsoft.com/office/drawing/2014/main" id="{3792C346-D40C-4DE8-ABB5-EAA7AD9E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84822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A referência semanal venceu nas receitas do cenário Studio.</a:t>
            </a:r>
          </a:p>
        </p:txBody>
      </p:sp>
      <p:sp>
        <p:nvSpPr>
          <p:cNvPr id="11" name="Dados fictícios · 07–27/out/2026 · Est">
            <a:extLst xmlns:a="http://schemas.openxmlformats.org/drawingml/2006/main">
              <a:ext uri="{FF2B5EF4-FFF2-40B4-BE49-F238E27FC236}">
                <a16:creationId xmlns:a16="http://schemas.microsoft.com/office/drawing/2014/main" id="{86D08A7F-82DA-499F-A677-6EA4A4F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Dados fictícios · 07–27/out/2026 · Estimativa, sem garantia de saldo futuro.</a:t>
            </a:r>
          </a:p>
        </p:txBody>
      </p:sp>
    </p:spTree>
    <p:extLst>
      <p:ext uri="{BB962C8B-B14F-4D97-AF65-F5344CB8AC3E}">
        <p14:creationId xmlns:p14="http://schemas.microsoft.com/office/powerpoint/2010/main" val="1059096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OONIEMIND">
            <a:extLst xmlns:a="http://schemas.openxmlformats.org/drawingml/2006/main">
              <a:ext uri="{FF2B5EF4-FFF2-40B4-BE49-F238E27FC236}">
                <a16:creationId xmlns:a16="http://schemas.microsoft.com/office/drawing/2014/main" id="{3895A50A-3631-4E01-80D1-C3F99C06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Um ciclo completo, pronto para evoluir">
            <a:extLst xmlns:a="http://schemas.openxmlformats.org/drawingml/2006/main">
              <a:ext uri="{FF2B5EF4-FFF2-40B4-BE49-F238E27FC236}">
                <a16:creationId xmlns:a16="http://schemas.microsoft.com/office/drawing/2014/main" id="{0F2F0949-67B8-48E3-BC38-47CCEDDC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Versão atual e evolução planejada</a:t>
            </a:r>
          </a:p>
        </p:txBody>
      </p:sp>
      <p:sp>
        <p:nvSpPr>
          <p:cNvPr id="3" name="LoonieMind · Projeto de gestão finance">
            <a:extLst xmlns:a="http://schemas.openxmlformats.org/drawingml/2006/main">
              <a:ext uri="{FF2B5EF4-FFF2-40B4-BE49-F238E27FC236}">
                <a16:creationId xmlns:a16="http://schemas.microsoft.com/office/drawing/2014/main" id="{1D1CD7A5-38AE-4405-8560-23F3BD98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9FC8A9E5-252B-47B6-BB4D-9DB4D37A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HOJE">
            <a:extLst xmlns:a="http://schemas.openxmlformats.org/drawingml/2006/main">
              <a:ext uri="{FF2B5EF4-FFF2-40B4-BE49-F238E27FC236}">
                <a16:creationId xmlns:a16="http://schemas.microsoft.com/office/drawing/2014/main" id="{8E505B40-B716-4EA9-AC9E-4C35ABEF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HOJE</a:t>
            </a:r>
          </a:p>
        </p:txBody>
      </p:sp>
      <p:sp>
        <p:nvSpPr>
          <p:cNvPr id="6" name="Importar e revisar&#10;Acompanhar e prever">
            <a:extLst xmlns:a="http://schemas.openxmlformats.org/drawingml/2006/main">
              <a:ext uri="{FF2B5EF4-FFF2-40B4-BE49-F238E27FC236}">
                <a16:creationId xmlns:a16="http://schemas.microsoft.com/office/drawing/2014/main" id="{DA5D477E-3636-40C2-88C7-C0A84A4B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0958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Importar e revisar</a:t>
            </a:r>
          </a:p>
          <a:p xmlns:a="http://schemas.openxmlformats.org/drawingml/2006/main">
            <a:pPr>
              <a:buNone/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Acompanhar e prever</a:t>
            </a:r>
          </a:p>
          <a:p xmlns:a="http://schemas.openxmlformats.org/drawingml/2006/main">
            <a:pPr>
              <a:buNone/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Exportar e recuperar</a:t>
            </a:r>
          </a:p>
        </p:txBody>
      </p:sp>
      <p:sp>
        <p:nvSpPr>
          <p:cNvPr id="7" name="10.965 movimentos financeiros fictício">
            <a:extLst xmlns:a="http://schemas.openxmlformats.org/drawingml/2006/main">
              <a:ext uri="{FF2B5EF4-FFF2-40B4-BE49-F238E27FC236}">
                <a16:creationId xmlns:a16="http://schemas.microsoft.com/office/drawing/2014/main" id="{3EFE4F05-0CC9-4A5E-8680-01B2B205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238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10.965 movimentos financeiros fictícios,</a:t>
            </a:r>
          </a:p>
          <a:p xmlns:a="http://schemas.openxmlformats.org/drawingml/2006/main">
            <a: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além dos exemplos de classificação.</a:t>
            </a:r>
          </a:p>
        </p:txBody>
      </p:sp>
      <p:sp>
        <p:nvSpPr>
          <p:cNvPr id="8" name="PRÓXIMOS PASSOS">
            <a:extLst xmlns:a="http://schemas.openxmlformats.org/drawingml/2006/main">
              <a:ext uri="{FF2B5EF4-FFF2-40B4-BE49-F238E27FC236}">
                <a16:creationId xmlns:a16="http://schemas.microsoft.com/office/drawing/2014/main" id="{C117A7C3-E016-4382-B08C-7060E5CE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8602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PRÓXIMOS PASSOS</a:t>
            </a:r>
          </a:p>
        </p:txBody>
      </p:sp>
      <p:sp>
        <p:nvSpPr>
          <p:cNvPr id="9" name="Validar com dados reais&#10;Acompanhar os ">
            <a:extLst xmlns:a="http://schemas.openxmlformats.org/drawingml/2006/main">
              <a:ext uri="{FF2B5EF4-FFF2-40B4-BE49-F238E27FC236}">
                <a16:creationId xmlns:a16="http://schemas.microsoft.com/office/drawing/2014/main" id="{DE5B6444-150E-4F36-8C2D-B1AA1533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45529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Pilotos com empresas reais</a:t>
            </a:r>
          </a:p>
          <a:p xmlns:a="http://schemas.openxmlformats.org/drawingml/2006/main">
            <a:pPr>
              <a:buNone/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Avaliação dos modelos</a:t>
            </a:r>
          </a:p>
          <a:p xmlns:a="http://schemas.openxmlformats.org/drawingml/2006/main">
            <a:pPr>
              <a:buNone/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Oferta por assinatura</a:t>
            </a:r>
          </a:p>
        </p:txBody>
      </p:sp>
      <p:sp>
        <p:nvSpPr>
          <p:cNvPr id="10" name="Organização, transparência e IA&#10;sob su">
            <a:extLst xmlns:a="http://schemas.openxmlformats.org/drawingml/2006/main">
              <a:ext uri="{FF2B5EF4-FFF2-40B4-BE49-F238E27FC236}">
                <a16:creationId xmlns:a16="http://schemas.microsoft.com/office/drawing/2014/main" id="{D8017076-2EB8-4DDE-AE9F-99A981FF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38750"/>
            <a:ext cx="4552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Modelo comercial proposto,</a:t>
            </a:r>
          </a:p>
          <a:p xmlns:a="http://schemas.openxmlformats.org/drawingml/2006/main">
            <a: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a validar com o público-alvo.</a:t>
            </a:r>
          </a:p>
        </p:txBody>
      </p:sp>
    </p:spTree>
    <p:extLst>
      <p:ext uri="{BB962C8B-B14F-4D97-AF65-F5344CB8AC3E}">
        <p14:creationId xmlns:p14="http://schemas.microsoft.com/office/powerpoint/2010/main" val="2018717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2026-10-28T02:35:48.7130000Z</dcterms:created>
  <dcterms:modified xsi:type="dcterms:W3CDTF">2026-10-28T02:35:48.7130000Z</dcterms:modified>
</coreProperties>
</file>