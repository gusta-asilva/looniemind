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f0e649af044eb9" /><Relationship Type="http://schemas.openxmlformats.org/officeDocument/2006/relationships/extended-properties" Target="/docProps/app.xml" Id="R2fb1c9843ee94a9d" /><Relationship Type="http://schemas.openxmlformats.org/officeDocument/2006/relationships/officeDocument" Target="/ppt/presentation.xml" Id="R107e77804a7840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49109d0cbb458a"/>
  </p:sldMasterIdLst>
  <p:notesMasterIdLst>
    <p:notesMasterId xmlns:r="http://schemas.openxmlformats.org/officeDocument/2006/relationships" r:id="R439c621dea7f4452"/>
  </p:notesMasterIdLst>
  <p:sldIdLst>
    <p:sldId xmlns:r="http://schemas.openxmlformats.org/officeDocument/2006/relationships" id="256" r:id="R370774f693f34cf7"/>
    <p:sldId xmlns:r="http://schemas.openxmlformats.org/officeDocument/2006/relationships" id="257" r:id="R981af997fb5049c3"/>
    <p:sldId xmlns:r="http://schemas.openxmlformats.org/officeDocument/2006/relationships" id="258" r:id="Rc83a5e7464d74058"/>
    <p:sldId xmlns:r="http://schemas.openxmlformats.org/officeDocument/2006/relationships" id="259" r:id="R02592d5271714e46"/>
    <p:sldId xmlns:r="http://schemas.openxmlformats.org/officeDocument/2006/relationships" id="260" r:id="R65a05363bab449b5"/>
    <p:sldId xmlns:r="http://schemas.openxmlformats.org/officeDocument/2006/relationships" id="261" r:id="R99ef9b37b2a54ef5"/>
    <p:sldId xmlns:r="http://schemas.openxmlformats.org/officeDocument/2006/relationships" id="262" r:id="R1c1e19506cf347a2"/>
    <p:sldId xmlns:r="http://schemas.openxmlformats.org/officeDocument/2006/relationships" id="263" r:id="Raea1c6fe449a4e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ca5ef3008f4c7b" /><Relationship Type="http://schemas.openxmlformats.org/officeDocument/2006/relationships/slideMaster" Target="/ppt/slideMasters/slideMaster1.xml" Id="R3149109d0cbb458a" /><Relationship Type="http://schemas.openxmlformats.org/officeDocument/2006/relationships/notesMaster" Target="/ppt/notesMasters/notesMaster1.xml" Id="R439c621dea7f4452" /><Relationship Type="http://schemas.openxmlformats.org/officeDocument/2006/relationships/presProps" Target="/ppt/presProps.xml" Id="R9319a4f08e904a70" /><Relationship Type="http://schemas.openxmlformats.org/officeDocument/2006/relationships/tableStyles" Target="/ppt/tableStyles.xml" Id="R61fbf51daac549d8" /><Relationship Type="http://schemas.openxmlformats.org/officeDocument/2006/relationships/slide" Target="/ppt/slides/slide1.xml" Id="R370774f693f34cf7" /><Relationship Type="http://schemas.openxmlformats.org/officeDocument/2006/relationships/slide" Target="/ppt/slides/slide2.xml" Id="R981af997fb5049c3" /><Relationship Type="http://schemas.openxmlformats.org/officeDocument/2006/relationships/slide" Target="/ppt/slides/slide3.xml" Id="Rc83a5e7464d74058" /><Relationship Type="http://schemas.openxmlformats.org/officeDocument/2006/relationships/slide" Target="/ppt/slides/slide4.xml" Id="R02592d5271714e46" /><Relationship Type="http://schemas.openxmlformats.org/officeDocument/2006/relationships/slide" Target="/ppt/slides/slide5.xml" Id="R65a05363bab449b5" /><Relationship Type="http://schemas.openxmlformats.org/officeDocument/2006/relationships/slide" Target="/ppt/slides/slide6.xml" Id="R99ef9b37b2a54ef5" /><Relationship Type="http://schemas.openxmlformats.org/officeDocument/2006/relationships/slide" Target="/ppt/slides/slide7.xml" Id="R1c1e19506cf347a2" /><Relationship Type="http://schemas.openxmlformats.org/officeDocument/2006/relationships/slide" Target="/ppt/slides/slide8.xml" Id="Raea1c6fe449a4e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88f9822e8b49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a61d404fac47a7" /><Relationship Type="http://schemas.openxmlformats.org/officeDocument/2006/relationships/notesMaster" Target="/ppt/notesMasters/notesMaster1.xml" Id="R123d988267ff41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fa458ee96d4bc8" /><Relationship Type="http://schemas.openxmlformats.org/officeDocument/2006/relationships/notesMaster" Target="/ppt/notesMasters/notesMaster1.xml" Id="R2289bdbad77c4a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62d272ab4d43eb" /><Relationship Type="http://schemas.openxmlformats.org/officeDocument/2006/relationships/notesMaster" Target="/ppt/notesMasters/notesMaster1.xml" Id="Rf87040d183df4f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23c83fc9ee439a" /><Relationship Type="http://schemas.openxmlformats.org/officeDocument/2006/relationships/notesMaster" Target="/ppt/notesMasters/notesMaster1.xml" Id="R82da80109a6945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cd81662f7147f8" /><Relationship Type="http://schemas.openxmlformats.org/officeDocument/2006/relationships/notesMaster" Target="/ppt/notesMasters/notesMaster1.xml" Id="R9645a68a36204b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eed90142e74c62" /><Relationship Type="http://schemas.openxmlformats.org/officeDocument/2006/relationships/notesMaster" Target="/ppt/notesMasters/notesMaster1.xml" Id="R2538b53a91e544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285d615620426b" /><Relationship Type="http://schemas.openxmlformats.org/officeDocument/2006/relationships/notesMaster" Target="/ppt/notesMasters/notesMaster1.xml" Id="R44b9388e57e14b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b8c26de35347d2" /><Relationship Type="http://schemas.openxmlformats.org/officeDocument/2006/relationships/notesMaster" Target="/ppt/notesMasters/notesMaster1.xml" Id="Rb015bebee76648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15s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LoonieMind é um projeto de inteligência financeira preventiva para pequenos negócios. A proposta é organizar as movimentações e usar o histórico para apoiar uma leitura mais clara do caixa e das decisões do empreendedor.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Plano de negócio fornecido pelo usuário, slides 1, 2 e 7: propósito e público. Contexto acadêmico Fatec Zona Sul / Empreendedorismo /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público inicial são micro e pequenas empresas de comércio e serviços, especialmente quando não há uma equipe financeira dedicada. A proposta de valor combina organização dos registros, classificação e previsão do caixa. A aplicação demonstrada funciona localmente, recebe planilhas e mantém a confirmação humana das categorias sugeridas.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Plano de negócio fornecido pelo usuário, slides 1, 2 e 7: propósito e público. Contexto acadêmico Fatec Zona Sul / Empreendedorismo /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proposta parte de três situações: registros espalhados, tempo gasto para conferir e classificar lançamentos e dificuldade de entender como o caixa pode evoluir. O LoonieMind reúne os dados e apresenta informações para apoiar esse acompanhamento. São os problemas que orientam a solução, não resultados de uma pesquisa com clientes.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Plano de negócio fornecido pelo usuário, slide 2. Situações apresentadas como problemas que orientam a proposta, sem generalizar frequências ou resultados.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40s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Esta é uma tela real do sistema com a empresa fictícia Aurora Comércio. A rotina começa pela importação da planilha, conferência da prévia e revisão das categorias. O saldo consolidado considera o histórico desde a referência. Entradas, saídas e resultado mostram o período selecionado. O gráfico acompanha o saldo, enquanto as pendências e a projeção ficam ao lado. Os dados desta demonstração são sintéticos.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Captura da aplicação local, versão 1.1, empresa fictícia Aurora Comércio, em 27/10/2026. docs/01-prototipacao/dashboard-apresentacao-v1.1.jpg. Dados sintéticos de datasets/sintetica-v2.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55s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classificação, a descrição é convertida em números por TF-IDF de palavras e caracteres. O LightGBM aprende a sugerir tipo e categoria. Foram usados quatorze mil e quatrocentos exemplos em doze classes, separando famílias de descrições entre treino, validação e teste. O F1 macro no teste foi zero vírgula seis sete seis seis. É uma avaliação sintética, sem garantia de qualidade em empresas reais. A pessoa confirma ou corrige as sugestões. Novas revisões só passam a integrar o modelo após um treinamento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docs/relatorios/avaliacao-v1.1.json: modelo 16d06098da41, F1 macro de teste 0,6766, validação 0,6034. Base: 14.400 exemplos, 288 famílias, 12 classes. Código: looniemind/models.py. Conceitos: https://scikit-learn.org/stable/modules/feature_extraction.html e https://scikit-learn.org/stable/modules/generated/sklearn.metrics.f1_score.html.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50s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previsão estima receitas e despesas separadamente e combina as duas com o saldo atual. Compara o LightGBM com a repetição do padrão semanal em uma janela cronológica reservada, sem consultar o futuro. O menor erro determina o método de cada série. No cenário Aurora, o erro médio diário das receitas foi cerca de cento e trinta e seis reais com LightGBM e cento e quarenta e seis com a referência. Em outro cenário, o padrão semanal venceu. A projeção é uma estimativa que precisa ser acompanhada.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docs/relatorios/avaliacao-v1.1.json, Aurora/receitas: MAE LightGBM R$ 135,89/dia; referência semanal R$ 145,59/dia, janela 07–27/10/2026. Studio/receitas: referência escolhida. A mesma janela é usada para comparar e selecionar o método, sem teste externo independente. Código: ForecastService em looniemind/models.py. https://lightgbm.readthedocs.io/en/stable/Python-API.html.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35s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plano de negócio propõe receita recorrente por assinatura, com três planos mensais: Bronze, de cento e cinquenta reais; Prata, de duzentos e cinquenta; e Ouro, de quinhentos reais. Diagnóstico financeiro e treinamentos aparecem como serviços adicionais. Esses valores pertencem à proposta comercial. A versão mostrada aqui é local e ainda não tem cobrança por assinatura implementada.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LoonieMind_Plano_de_Negocio_Apresentacao 5  -  Repaired.pptx, slide 5. Valores mensais propostos: Bronze R$ 150, Prata R$ 250, Ouro R$ 500. São hipóteses comerciais do plano; não há cobrança por assinatura implementada na aplicação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previsto: 20s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valor da LoonieMind está em reunir um histórico organizado, uma visão clara do caixa e estimativas que podem ser conferidas. A inteligência artificial apoia a leitura dos dados, enquanto a revisão humana e a rastreabilidade ajudam o empreendedor a avaliar as informações antes de decidir.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evidências:</a:t>
            </a:r>
          </a:p>
          <a:p xmlns:a="http://schemas.openxmlformats.org/drawingml/2006/main">
            <a:r>
              <a:t>Síntese da proposta do plano e das funções existentes em docs/MANUAL-SISTEMA-E-IA.md. Sem garantia de resultado financeiro.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ae11ef7704e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b08de1f834e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b5c763af34b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fe29801af748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8cd1bb6614a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980b61fc148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33945F-D109-44E5-AED1-DC991E7EFC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9F8F39-01C6-4D32-91AC-9D1BA1BED5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546D66-7D3C-4CEF-ACB2-0E00CC5190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B44524-4A36-4486-99E0-7352C020F4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E27E56-DCAD-4C2F-86A9-4D2D9CA28E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4CCE03-042C-43C2-9A49-EFDB9F468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1F0DFC-2D24-46B5-B277-0519D41E8F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0B4207-1B9B-4EB5-BC58-D02D4A1D04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03B9D4-2810-4CA1-83B7-808B8087B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24E17A-9FE6-4113-B716-336FD8B16D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933be2715344a7" /><Relationship Type="http://schemas.openxmlformats.org/officeDocument/2006/relationships/slideLayout" Target="/ppt/slideLayouts/slideLayout1.xml" Id="R3b7c608f2a944f82" /><Relationship Type="http://schemas.openxmlformats.org/officeDocument/2006/relationships/slideLayout" Target="/ppt/slideLayouts/slideLayout2.xml" Id="R272d31a0302a4f8e" /><Relationship Type="http://schemas.openxmlformats.org/officeDocument/2006/relationships/slideLayout" Target="/ppt/slideLayouts/slideLayout3.xml" Id="R820e8eee216843ce" /><Relationship Type="http://schemas.openxmlformats.org/officeDocument/2006/relationships/slideLayout" Target="/ppt/slideLayouts/slideLayout4.xml" Id="Rb28123469daa40d2" /><Relationship Type="http://schemas.openxmlformats.org/officeDocument/2006/relationships/slideLayout" Target="/ppt/slideLayouts/slideLayout5.xml" Id="R75bce38f38bf47bd" /><Relationship Type="http://schemas.openxmlformats.org/officeDocument/2006/relationships/slideLayout" Target="/ppt/slideLayouts/slideLayout6.xml" Id="R733482e1817149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7c608f2a944f82"/>
    <p:sldLayoutId xmlns:r="http://schemas.openxmlformats.org/officeDocument/2006/relationships" id="2147483650" r:id="R272d31a0302a4f8e"/>
    <p:sldLayoutId xmlns:r="http://schemas.openxmlformats.org/officeDocument/2006/relationships" id="2147483651" r:id="R820e8eee216843ce"/>
    <p:sldLayoutId xmlns:r="http://schemas.openxmlformats.org/officeDocument/2006/relationships" id="2147483652" r:id="Rb28123469daa40d2"/>
    <p:sldLayoutId xmlns:r="http://schemas.openxmlformats.org/officeDocument/2006/relationships" id="2147483653" r:id="R75bce38f38bf47bd"/>
    <p:sldLayoutId xmlns:r="http://schemas.openxmlformats.org/officeDocument/2006/relationships" id="2147483654" r:id="R733482e1817149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2d2c619420408e" /><Relationship Type="http://schemas.openxmlformats.org/officeDocument/2006/relationships/notesSlide" Target="/ppt/notesSlides/notesSlide1.xml" Id="R3551e5ffe4c247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f12d363a8c4d70" /><Relationship Type="http://schemas.openxmlformats.org/officeDocument/2006/relationships/notesSlide" Target="/ppt/notesSlides/notesSlide2.xml" Id="R75da73faaf9a45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1e06e0fe494bdb" /><Relationship Type="http://schemas.openxmlformats.org/officeDocument/2006/relationships/notesSlide" Target="/ppt/notesSlides/notesSlide3.xml" Id="R6cc05a06106942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2509b7ba4540fa" /><Relationship Type="http://schemas.openxmlformats.org/officeDocument/2006/relationships/image" Target="/ppt/media/image.jpeg" Id="R1bc4f6ed007e4559" /><Relationship Type="http://schemas.openxmlformats.org/officeDocument/2006/relationships/notesSlide" Target="/ppt/notesSlides/notesSlide4.xml" Id="R6d2fe1c1cc5740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fb9b4577f94fa2" /><Relationship Type="http://schemas.openxmlformats.org/officeDocument/2006/relationships/notesSlide" Target="/ppt/notesSlides/notesSlide5.xml" Id="Rabb457891e7445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75baa3df314f88" /><Relationship Type="http://schemas.openxmlformats.org/officeDocument/2006/relationships/chart" Target="/ppt/slides/charts/chart1.xml" Id="Ra9e3545f1bf24550" /><Relationship Type="http://schemas.openxmlformats.org/officeDocument/2006/relationships/notesSlide" Target="/ppt/notesSlides/notesSlide6.xml" Id="Rd59d863de8c346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c5b3c54044d54" /><Relationship Type="http://schemas.openxmlformats.org/officeDocument/2006/relationships/notesSlide" Target="/ppt/notesSlides/notesSlide7.xml" Id="Rb68029a5a91a46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87516e84fe4824" /><Relationship Type="http://schemas.openxmlformats.org/officeDocument/2006/relationships/notesSlide" Target="/ppt/notesSlides/notesSlide8.xml" Id="R279e56d046e041d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MAE das receitas · Aurora (R$/dia)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173C35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 (R$/dia)</c:v>
          </c:tx>
          <c:spPr>
            <a:solidFill xmlns:a="http://schemas.openxmlformats.org/drawingml/2006/main">
              <a:srgbClr val="258F83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LightGBM</c:v>
                </c:pt>
                <c:pt idx="1">
                  <c:v>Referência semanal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135.89</c:v>
                </c:pt>
                <c:pt idx="1">
                  <c:v>145.59</c:v>
                </c:pt>
              </c:numCache>
            </c:numRef>
          </c:val>
        </c:ser>
        <c:dLbls>
          <c:numFmt formatCode="&quot;R$&quot; 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3C3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E3D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3D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6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oonieMind.">
            <a:extLst xmlns:a="http://schemas.openxmlformats.org/drawingml/2006/main">
              <a:ext uri="{FF2B5EF4-FFF2-40B4-BE49-F238E27FC236}">
                <a16:creationId xmlns:a16="http://schemas.microsoft.com/office/drawing/2014/main" id="{17612F31-D0BC-4779-B4B2-C3A64200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LoonieMind.</a:t>
            </a:r>
          </a:p>
        </p:txBody>
      </p:sp>
      <p:sp>
        <p:nvSpPr>
          <p:cNvPr id="2" name="Finanças com clareza&#10;para pequenos neg">
            <a:extLst xmlns:a="http://schemas.openxmlformats.org/drawingml/2006/main">
              <a:ext uri="{FF2B5EF4-FFF2-40B4-BE49-F238E27FC236}">
                <a16:creationId xmlns:a16="http://schemas.microsoft.com/office/drawing/2014/main" id="{1DBE51F5-0A33-424D-B5D7-6CB5C39F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Inteligência financeira preventiva</a:t>
            </a:r>
          </a:p>
          <a:p xmlns:a="http://schemas.openxmlformats.org/drawingml/2006/main">
            <a:pPr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pequenos negócios</a:t>
            </a:r>
          </a:p>
        </p:txBody>
      </p:sp>
      <p:sp>
        <p:nvSpPr>
          <p:cNvPr id="3" name="Organização financeira e IA sob superv">
            <a:extLst xmlns:a="http://schemas.openxmlformats.org/drawingml/2006/main">
              <a:ext uri="{FF2B5EF4-FFF2-40B4-BE49-F238E27FC236}">
                <a16:creationId xmlns:a16="http://schemas.microsoft.com/office/drawing/2014/main" id="{A06E85FD-7EA8-47F4-8A23-807219D3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EE5DA"/>
                </a:solidFill>
                <a:latin typeface="Arial"/>
                <a:ea typeface="Arial"/>
                <a:cs typeface="Arial"/>
              </a:rPr>
              <a:t>Organização do caixa, previsão e revisão humana</a:t>
            </a:r>
          </a:p>
        </p:txBody>
      </p:sp>
      <p:sp>
        <p:nvSpPr>
          <p:cNvPr id="4" name="PROPOSTA DE SOLUÇÃO · APLICAÇÃO LOCAL">
            <a:extLst xmlns:a="http://schemas.openxmlformats.org/drawingml/2006/main">
              <a:ext uri="{FF2B5EF4-FFF2-40B4-BE49-F238E27FC236}">
                <a16:creationId xmlns:a16="http://schemas.microsoft.com/office/drawing/2014/main" id="{39B806C4-4AD2-499E-A6E1-CBDBF721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53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DBD"/>
                </a:solidFill>
                <a:latin typeface="Arial"/>
                <a:ea typeface="Arial"/>
                <a:cs typeface="Arial"/>
              </a:rPr>
              <a:t>PROJETO ACADÊMICO · FATEC ZONA SUL · EMPREENDEDORISMO · 2026</a:t>
            </a:r>
          </a:p>
        </p:txBody>
      </p:sp>
    </p:spTree>
    <p:extLst>
      <p:ext uri="{BB962C8B-B14F-4D97-AF65-F5344CB8AC3E}">
        <p14:creationId xmlns:p14="http://schemas.microsoft.com/office/powerpoint/2010/main" val="6379373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OONIEMIND">
            <a:extLst xmlns:a="http://schemas.openxmlformats.org/drawingml/2006/main">
              <a:ext uri="{FF2B5EF4-FFF2-40B4-BE49-F238E27FC236}">
                <a16:creationId xmlns:a16="http://schemas.microsoft.com/office/drawing/2014/main" id="{17511603-93C5-46FE-9C1E-847BE61F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LOONIEMIND</a:t>
            </a:r>
          </a:p>
        </p:txBody>
      </p:sp>
      <p:sp>
        <p:nvSpPr>
          <p:cNvPr id="2" name="Da planilha à decisão.">
            <a:extLst xmlns:a="http://schemas.openxmlformats.org/drawingml/2006/main">
              <a:ext uri="{FF2B5EF4-FFF2-40B4-BE49-F238E27FC236}">
                <a16:creationId xmlns:a16="http://schemas.microsoft.com/office/drawing/2014/main" id="{60DDE686-9F80-4DDC-A0DC-D1AE3FAC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A empresa e seu público</a:t>
            </a:r>
          </a:p>
        </p:txBody>
      </p:sp>
      <p:sp>
        <p:nvSpPr>
          <p:cNvPr id="3" name="Uma rotina para reunir registros, revi">
            <a:extLst xmlns:a="http://schemas.openxmlformats.org/drawingml/2006/main">
              <a:ext uri="{FF2B5EF4-FFF2-40B4-BE49-F238E27FC236}">
                <a16:creationId xmlns:a16="http://schemas.microsoft.com/office/drawing/2014/main" id="{368A0AEE-F195-47A9-8169-83AFA124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Aplicação local com entrada por planilhas e revisão humana.</a:t>
            </a:r>
          </a:p>
        </p:txBody>
      </p:sp>
      <p:sp>
        <p:nvSpPr>
          <p:cNvPr id="4" name="LoonieMind · Projeto de gestão finance">
            <a:extLst xmlns:a="http://schemas.openxmlformats.org/drawingml/2006/main">
              <a:ext uri="{FF2B5EF4-FFF2-40B4-BE49-F238E27FC236}">
                <a16:creationId xmlns:a16="http://schemas.microsoft.com/office/drawing/2014/main" id="{325D4105-8A82-4C66-91E0-C3F83079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LoonieMind · Projeto de gestão financeira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BFF1C60F-6340-4320-8236-ED7CAF0F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484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Importar e conferir">
            <a:extLst xmlns:a="http://schemas.openxmlformats.org/drawingml/2006/main">
              <a:ext uri="{FF2B5EF4-FFF2-40B4-BE49-F238E27FC236}">
                <a16:creationId xmlns:a16="http://schemas.microsoft.com/office/drawing/2014/main" id="{BCDF5AC7-EB9C-4A22-91E1-DF53223A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Público-alvo</a:t>
            </a:r>
          </a:p>
        </p:txBody>
      </p:sp>
      <p:sp>
        <p:nvSpPr>
          <p:cNvPr id="8" name="Prévia, validação e origem dos dados.">
            <a:extLst xmlns:a="http://schemas.openxmlformats.org/drawingml/2006/main">
              <a:ext uri="{FF2B5EF4-FFF2-40B4-BE49-F238E27FC236}">
                <a16:creationId xmlns:a16="http://schemas.microsoft.com/office/drawing/2014/main" id="{80643ABB-5E29-45A7-AFE1-931E5ED3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38375"/>
            <a:ext cx="76485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C35"/>
                </a:solidFill>
                <a:latin typeface="Arial"/>
                <a:ea typeface="Arial"/>
                <a:cs typeface="Arial"/>
              </a:rPr>
              <a:t>Micro e pequenas empresas de comércio e serviços,</a:t>
            </a:r>
          </a:p>
          <a:p xmlns:a="http://schemas.openxmlformats.org/drawingml/2006/main">
            <a:pPr>
              <a:buNone/>
              <a:defRPr sz="232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C35"/>
                </a:solidFill>
                <a:latin typeface="Arial"/>
                <a:ea typeface="Arial"/>
                <a:cs typeface="Arial"/>
              </a:rPr>
              <a:t>sem equipe financeira dedicada.</a:t>
            </a:r>
          </a:p>
        </p:txBody>
      </p:sp>
      <p:sp>
        <p:nvSpPr>
          <p:cNvPr id="10" name="Revisar categorias">
            <a:extLst xmlns:a="http://schemas.openxmlformats.org/drawingml/2006/main">
              <a:ext uri="{FF2B5EF4-FFF2-40B4-BE49-F238E27FC236}">
                <a16:creationId xmlns:a16="http://schemas.microsoft.com/office/drawing/2014/main" id="{0D29F6E0-97DC-4049-8B2F-8DF73DB7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Proposta de valor</a:t>
            </a:r>
          </a:p>
        </p:txBody>
      </p:sp>
      <p:sp>
        <p:nvSpPr>
          <p:cNvPr id="11" name="Sugestões com confirmação humana.">
            <a:extLst xmlns:a="http://schemas.openxmlformats.org/drawingml/2006/main">
              <a:ext uri="{FF2B5EF4-FFF2-40B4-BE49-F238E27FC236}">
                <a16:creationId xmlns:a16="http://schemas.microsoft.com/office/drawing/2014/main" id="{DF5121F0-01F9-4DA1-8609-BE27162D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76625"/>
            <a:ext cx="76485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C35"/>
                </a:solidFill>
                <a:latin typeface="Arial"/>
                <a:ea typeface="Arial"/>
                <a:cs typeface="Arial"/>
              </a:rPr>
              <a:t>Classificar movimentações e antecipar o caixa</a:t>
            </a:r>
          </a:p>
          <a:p xmlns:a="http://schemas.openxmlformats.org/drawingml/2006/main">
            <a:pPr>
              <a:buNone/>
              <a:defRPr sz="232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C35"/>
                </a:solidFill>
                <a:latin typeface="Arial"/>
                <a:ea typeface="Arial"/>
                <a:cs typeface="Arial"/>
              </a:rPr>
              <a:t>para apoiar o planejamento do empreendedor.</a:t>
            </a:r>
          </a:p>
        </p:txBody>
      </p:sp>
    </p:spTree>
    <p:extLst>
      <p:ext uri="{BB962C8B-B14F-4D97-AF65-F5344CB8AC3E}">
        <p14:creationId xmlns:p14="http://schemas.microsoft.com/office/powerpoint/2010/main" val="1607244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OONIEMIND">
            <a:extLst xmlns:a="http://schemas.openxmlformats.org/drawingml/2006/main">
              <a:ext uri="{FF2B5EF4-FFF2-40B4-BE49-F238E27FC236}">
                <a16:creationId xmlns:a16="http://schemas.microsoft.com/office/drawing/2014/main" id="{ACA5BE9D-5267-4858-AAA1-CCE7C71C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LOONIEMIND</a:t>
            </a:r>
          </a:p>
        </p:txBody>
      </p:sp>
      <p:sp>
        <p:nvSpPr>
          <p:cNvPr id="2" name="O desafio da gestão do caixa">
            <a:extLst xmlns:a="http://schemas.openxmlformats.org/drawingml/2006/main">
              <a:ext uri="{FF2B5EF4-FFF2-40B4-BE49-F238E27FC236}">
                <a16:creationId xmlns:a16="http://schemas.microsoft.com/office/drawing/2014/main" id="{8217E6AF-3029-4618-A124-4B92CE7E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O desafio da gestão do caixa</a:t>
            </a:r>
          </a:p>
        </p:txBody>
      </p:sp>
      <p:sp>
        <p:nvSpPr>
          <p:cNvPr id="3" name="LoonieMind · Projeto de gestão financeira">
            <a:extLst xmlns:a="http://schemas.openxmlformats.org/drawingml/2006/main">
              <a:ext uri="{FF2B5EF4-FFF2-40B4-BE49-F238E27FC236}">
                <a16:creationId xmlns:a16="http://schemas.microsoft.com/office/drawing/2014/main" id="{7DC4064B-4148-4299-B47A-FC93AE50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LoonieMind · Projeto de gestão financeira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15BD2442-01ED-4454-9D33-68F3D56B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484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Registros dispersos">
            <a:extLst xmlns:a="http://schemas.openxmlformats.org/drawingml/2006/main">
              <a:ext uri="{FF2B5EF4-FFF2-40B4-BE49-F238E27FC236}">
                <a16:creationId xmlns:a16="http://schemas.microsoft.com/office/drawing/2014/main" id="{A315D20A-CC15-453E-8FF4-ECD83B8A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048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Registros dispersos</a:t>
            </a:r>
          </a:p>
        </p:txBody>
      </p:sp>
      <p:sp>
        <p:nvSpPr>
          <p:cNvPr id="6" name="Entradas e saídas difíceis de acompanhar.">
            <a:extLst xmlns:a="http://schemas.openxmlformats.org/drawingml/2006/main">
              <a:ext uri="{FF2B5EF4-FFF2-40B4-BE49-F238E27FC236}">
                <a16:creationId xmlns:a16="http://schemas.microsoft.com/office/drawing/2014/main" id="{ADDA577E-4281-464B-A612-124C2FAA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38375"/>
            <a:ext cx="626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C35"/>
                </a:solidFill>
                <a:latin typeface="Arial"/>
                <a:ea typeface="Arial"/>
                <a:cs typeface="Arial"/>
              </a:rPr>
              <a:t>Entradas e saídas difíceis de acompanhar.</a:t>
            </a:r>
          </a:p>
        </p:txBody>
      </p:sp>
      <p:sp>
        <p:nvSpPr>
          <p:cNvPr id="7" name="Revisão repetitiva">
            <a:extLst xmlns:a="http://schemas.openxmlformats.org/drawingml/2006/main">
              <a:ext uri="{FF2B5EF4-FFF2-40B4-BE49-F238E27FC236}">
                <a16:creationId xmlns:a16="http://schemas.microsoft.com/office/drawing/2014/main" id="{2D42BB9B-37B7-4A38-9978-11AEC251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048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Revisão repetitiva</a:t>
            </a:r>
          </a:p>
        </p:txBody>
      </p:sp>
      <p:sp>
        <p:nvSpPr>
          <p:cNvPr id="8" name="Classificar e conferir lançamentos toma tempo">
            <a:extLst xmlns:a="http://schemas.openxmlformats.org/drawingml/2006/main">
              <a:ext uri="{FF2B5EF4-FFF2-40B4-BE49-F238E27FC236}">
                <a16:creationId xmlns:a16="http://schemas.microsoft.com/office/drawing/2014/main" id="{69A22163-D04C-4EEA-8B4E-9C8FD8E8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76625"/>
            <a:ext cx="626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C35"/>
                </a:solidFill>
                <a:latin typeface="Arial"/>
                <a:ea typeface="Arial"/>
                <a:cs typeface="Arial"/>
              </a:rPr>
              <a:t>Classificar e conferir lançamentos toma tempo.</a:t>
            </a:r>
          </a:p>
        </p:txBody>
      </p:sp>
      <p:sp>
        <p:nvSpPr>
          <p:cNvPr id="9" name="Pouca visão adiante">
            <a:extLst xmlns:a="http://schemas.openxmlformats.org/drawingml/2006/main">
              <a:ext uri="{FF2B5EF4-FFF2-40B4-BE49-F238E27FC236}">
                <a16:creationId xmlns:a16="http://schemas.microsoft.com/office/drawing/2014/main" id="{B410F8BF-B3B3-4F1C-8F3A-C4DC1CD7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4048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Pouca visão adiante</a:t>
            </a:r>
          </a:p>
        </p:txBody>
      </p:sp>
      <p:sp>
        <p:nvSpPr>
          <p:cNvPr id="10" name="Planejar pagamentos exige entender&#10;como o sal">
            <a:extLst xmlns:a="http://schemas.openxmlformats.org/drawingml/2006/main">
              <a:ext uri="{FF2B5EF4-FFF2-40B4-BE49-F238E27FC236}">
                <a16:creationId xmlns:a16="http://schemas.microsoft.com/office/drawing/2014/main" id="{F84BBFC1-40A8-410E-B194-1BF9F3F5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14875"/>
            <a:ext cx="626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C35"/>
                </a:solidFill>
                <a:latin typeface="Arial"/>
                <a:ea typeface="Arial"/>
                <a:cs typeface="Arial"/>
              </a:rPr>
              <a:t>Planejar pagamentos exige entender</a:t>
            </a:r>
          </a:p>
          <a:p xmlns:a="http://schemas.openxmlformats.org/drawingml/2006/main">
            <a: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C35"/>
                </a:solidFill>
                <a:latin typeface="Arial"/>
                <a:ea typeface="Arial"/>
                <a:cs typeface="Arial"/>
              </a:rPr>
              <a:t>como o saldo pode evoluir.</a:t>
            </a:r>
          </a:p>
        </p:txBody>
      </p:sp>
      <p:sp>
        <p:nvSpPr>
          <p:cNvPr id="11" name="Situações que orientam a proposta da LoonieMi">
            <a:extLst xmlns:a="http://schemas.openxmlformats.org/drawingml/2006/main">
              <a:ext uri="{FF2B5EF4-FFF2-40B4-BE49-F238E27FC236}">
                <a16:creationId xmlns:a16="http://schemas.microsoft.com/office/drawing/2014/main" id="{2AEB26A6-AA32-4C80-AA6A-FAD57780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Situações que orientam a proposta da LoonieMind</a:t>
            </a:r>
          </a:p>
        </p:txBody>
      </p:sp>
    </p:spTree>
    <p:extLst>
      <p:ext uri="{BB962C8B-B14F-4D97-AF65-F5344CB8AC3E}">
        <p14:creationId xmlns:p14="http://schemas.microsoft.com/office/powerpoint/2010/main" val="1993156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OONIEMIND">
            <a:extLst xmlns:a="http://schemas.openxmlformats.org/drawingml/2006/main">
              <a:ext uri="{FF2B5EF4-FFF2-40B4-BE49-F238E27FC236}">
                <a16:creationId xmlns:a16="http://schemas.microsoft.com/office/drawing/2014/main" id="{5D2B9E6F-064E-4AAA-9697-7A94515B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LOONIEMIND</a:t>
            </a:r>
          </a:p>
        </p:txBody>
      </p:sp>
      <p:sp>
        <p:nvSpPr>
          <p:cNvPr id="2" name="O que importa aparece primeiro.">
            <a:extLst xmlns:a="http://schemas.openxmlformats.org/drawingml/2006/main">
              <a:ext uri="{FF2B5EF4-FFF2-40B4-BE49-F238E27FC236}">
                <a16:creationId xmlns:a16="http://schemas.microsoft.com/office/drawing/2014/main" id="{22FC3B5E-BEAB-4E54-86FA-02F854A9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O que importa aparece primeiro.</a:t>
            </a:r>
          </a:p>
        </p:txBody>
      </p:sp>
      <p:sp>
        <p:nvSpPr>
          <p:cNvPr id="3" name="LoonieMind · Projeto de gestão finance">
            <a:extLst xmlns:a="http://schemas.openxmlformats.org/drawingml/2006/main">
              <a:ext uri="{FF2B5EF4-FFF2-40B4-BE49-F238E27FC236}">
                <a16:creationId xmlns:a16="http://schemas.microsoft.com/office/drawing/2014/main" id="{C49FCDAC-D3E0-4B45-A0D3-CE5AD8F2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LoonieMind · Projeto de gestão financeira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80EFCE31-B8D9-4042-BA3A-4200E043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484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Saldo consolidado">
            <a:extLst xmlns:a="http://schemas.openxmlformats.org/drawingml/2006/main">
              <a:ext uri="{FF2B5EF4-FFF2-40B4-BE49-F238E27FC236}">
                <a16:creationId xmlns:a16="http://schemas.microsoft.com/office/drawing/2014/main" id="{A3B883E9-F89D-43EC-A8BB-55259AF4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Saldo consolidado</a:t>
            </a:r>
          </a:p>
        </p:txBody>
      </p:sp>
      <p:sp>
        <p:nvSpPr>
          <p:cNvPr id="6" name="Quanto há no caixa desde a referência.">
            <a:extLst xmlns:a="http://schemas.openxmlformats.org/drawingml/2006/main">
              <a:ext uri="{FF2B5EF4-FFF2-40B4-BE49-F238E27FC236}">
                <a16:creationId xmlns:a16="http://schemas.microsoft.com/office/drawing/2014/main" id="{C1CAD5FD-9301-4137-A644-F284A486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76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Quanto há no caixa desde a referência.</a:t>
            </a:r>
          </a:p>
        </p:txBody>
      </p:sp>
      <p:sp>
        <p:nvSpPr>
          <p:cNvPr id="7" name="Resultado do período">
            <a:extLst xmlns:a="http://schemas.openxmlformats.org/drawingml/2006/main">
              <a:ext uri="{FF2B5EF4-FFF2-40B4-BE49-F238E27FC236}">
                <a16:creationId xmlns:a16="http://schemas.microsoft.com/office/drawing/2014/main" id="{B8B7DD1C-5AAB-4268-8575-6C3DA062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Resultado do período</a:t>
            </a:r>
          </a:p>
        </p:txBody>
      </p:sp>
      <p:sp>
        <p:nvSpPr>
          <p:cNvPr id="8" name="Entradas e saídas da janela selecionad">
            <a:extLst xmlns:a="http://schemas.openxmlformats.org/drawingml/2006/main">
              <a:ext uri="{FF2B5EF4-FFF2-40B4-BE49-F238E27FC236}">
                <a16:creationId xmlns:a16="http://schemas.microsoft.com/office/drawing/2014/main" id="{49DC32E8-F9C2-4428-A0B1-237613B2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3762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Entradas e saídas da janela selecionada.</a:t>
            </a:r>
          </a:p>
        </p:txBody>
      </p:sp>
      <p:sp>
        <p:nvSpPr>
          <p:cNvPr id="9" name="Pendências e próximos dias">
            <a:extLst xmlns:a="http://schemas.openxmlformats.org/drawingml/2006/main">
              <a:ext uri="{FF2B5EF4-FFF2-40B4-BE49-F238E27FC236}">
                <a16:creationId xmlns:a16="http://schemas.microsoft.com/office/drawing/2014/main" id="{6BB9A209-661D-421C-8C49-B463A2CA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Pendências e próximos dias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BB019-DC4B-4BA0-BDA2-0180285362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4f6ed007e4559"/>
          <a:stretch xmlns:a="http://schemas.openxmlformats.org/drawingml/2006/main"/>
        </p:blipFill>
        <p:spPr>
          <a:xfrm xmlns:a="http://schemas.openxmlformats.org/drawingml/2006/main">
            <a:off x="5029200" y="1698207"/>
            <a:ext cx="6477000" cy="44998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33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OONIEMIND">
            <a:extLst xmlns:a="http://schemas.openxmlformats.org/drawingml/2006/main">
              <a:ext uri="{FF2B5EF4-FFF2-40B4-BE49-F238E27FC236}">
                <a16:creationId xmlns:a16="http://schemas.microsoft.com/office/drawing/2014/main" id="{3BB3040D-DDD2-4F06-885C-F4306AFF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LOONIEMIND</a:t>
            </a:r>
          </a:p>
        </p:txBody>
      </p:sp>
      <p:sp>
        <p:nvSpPr>
          <p:cNvPr id="2" name="IA para sugerir. Revisão para confirma">
            <a:extLst xmlns:a="http://schemas.openxmlformats.org/drawingml/2006/main">
              <a:ext uri="{FF2B5EF4-FFF2-40B4-BE49-F238E27FC236}">
                <a16:creationId xmlns:a16="http://schemas.microsoft.com/office/drawing/2014/main" id="{68571FE6-DBCA-4EB2-9B68-41ED9253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IA para sugerir. Revisão para confirmar.</a:t>
            </a:r>
          </a:p>
        </p:txBody>
      </p:sp>
      <p:sp>
        <p:nvSpPr>
          <p:cNvPr id="3" name="Descrição → TF-IDF de palavras e carac">
            <a:extLst xmlns:a="http://schemas.openxmlformats.org/drawingml/2006/main">
              <a:ext uri="{FF2B5EF4-FFF2-40B4-BE49-F238E27FC236}">
                <a16:creationId xmlns:a16="http://schemas.microsoft.com/office/drawing/2014/main" id="{4E3C2510-DDEA-440D-B8A1-109A95E0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Descrição → TF-IDF de palavras e caracteres → LightGBM → revisão</a:t>
            </a:r>
          </a:p>
        </p:txBody>
      </p:sp>
      <p:sp>
        <p:nvSpPr>
          <p:cNvPr id="4" name="LoonieMind · Projeto de gestão finance">
            <a:extLst xmlns:a="http://schemas.openxmlformats.org/drawingml/2006/main">
              <a:ext uri="{FF2B5EF4-FFF2-40B4-BE49-F238E27FC236}">
                <a16:creationId xmlns:a16="http://schemas.microsoft.com/office/drawing/2014/main" id="{F5EC6FD6-F6EF-407E-B9BE-06F85519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LoonieMind · Projeto de gestão financeira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46363CD2-2E6A-4F1E-92A6-7B2954C4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484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14.400 exemplos · 12 classes">
            <a:extLst xmlns:a="http://schemas.openxmlformats.org/drawingml/2006/main">
              <a:ext uri="{FF2B5EF4-FFF2-40B4-BE49-F238E27FC236}">
                <a16:creationId xmlns:a16="http://schemas.microsoft.com/office/drawing/2014/main" id="{0CF45812-6C00-4715-8E94-CBB6C518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14.400 exemplos · 12 classes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21EC5-F35A-4739-A8DF-7157F27B5320}"/>
              </a:ext>
            </a:extLst>
          </p:cNvPr>
          <p:cNvGraphicFramePr/>
          <p:nvPr/>
        </p:nvGraphicFramePr>
        <p:xfrm>
          <a:off xmlns:a="http://schemas.openxmlformats.org/drawingml/2006/main" x="685800" y="3514725"/>
          <a:ext xmlns:a="http://schemas.openxmlformats.org/drawingml/2006/main" cx="6324600" cy="2124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809750"/>
                <a:gridCol w="1657350"/>
              </a:tblGrid>
              <a:tr h="531019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Partição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3DB"/>
                      </a:solidFill>
                      <a:prstDash val="solid"/>
                    </a:lnL>
                    <a:lnR w="9525">
                      <a:solidFill>
                        <a:srgbClr val="D5E3DB"/>
                      </a:solidFill>
                      <a:prstDash val="solid"/>
                    </a:lnR>
                    <a:lnT w="9525">
                      <a:solidFill>
                        <a:srgbClr val="D5E3DB"/>
                      </a:solidFill>
                      <a:prstDash val="solid"/>
                    </a:lnT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173C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Exemplos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T w="9525">
                      <a:solidFill>
                        <a:srgbClr val="D5E3DB"/>
                      </a:solidFill>
                      <a:prstDash val="solid"/>
                    </a:lnT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173C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Famílias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T w="9525">
                      <a:solidFill>
                        <a:srgbClr val="D5E3DB"/>
                      </a:solidFill>
                      <a:prstDash val="solid"/>
                    </a:lnT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173C35"/>
                    </a:solidFill>
                  </a:tcPr>
                </a:tc>
              </a:tr>
              <a:tr h="531019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Treino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3DB"/>
                      </a:solidFill>
                      <a:prstDash val="solid"/>
                    </a:lnL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9.600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192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1019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Validação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3DB"/>
                      </a:solidFill>
                      <a:prstDash val="solid"/>
                    </a:lnL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EDF3E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2.400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EDF3E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EDF3EF"/>
                    </a:solidFill>
                  </a:tcPr>
                </a:tc>
              </a:tr>
              <a:tr h="531019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Teste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3DB"/>
                      </a:solidFill>
                      <a:prstDash val="solid"/>
                    </a:lnL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2.400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3C3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0,6766">
            <a:extLst xmlns:a="http://schemas.openxmlformats.org/drawingml/2006/main">
              <a:ext uri="{FF2B5EF4-FFF2-40B4-BE49-F238E27FC236}">
                <a16:creationId xmlns:a16="http://schemas.microsoft.com/office/drawing/2014/main" id="{4FC821FB-954D-48EA-85FC-98A3B0CA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052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58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0,6766</a:t>
            </a:r>
          </a:p>
        </p:txBody>
      </p:sp>
      <p:sp>
        <p:nvSpPr>
          <p:cNvPr id="9" name="F1 macro no teste">
            <a:extLst xmlns:a="http://schemas.openxmlformats.org/drawingml/2006/main">
              <a:ext uri="{FF2B5EF4-FFF2-40B4-BE49-F238E27FC236}">
                <a16:creationId xmlns:a16="http://schemas.microsoft.com/office/drawing/2014/main" id="{BB5917B4-5DDC-48FF-8CB4-41A0F48C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0057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F1 macro no teste</a:t>
            </a:r>
          </a:p>
        </p:txBody>
      </p:sp>
      <p:sp>
        <p:nvSpPr>
          <p:cNvPr id="10" name="Resultado sintético.&#10;Validação real ai">
            <a:extLst xmlns:a="http://schemas.openxmlformats.org/drawingml/2006/main">
              <a:ext uri="{FF2B5EF4-FFF2-40B4-BE49-F238E27FC236}">
                <a16:creationId xmlns:a16="http://schemas.microsoft.com/office/drawing/2014/main" id="{E0A87BF4-6CE4-4706-9AE2-75FBF565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33975"/>
            <a:ext cx="3619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Resultado sintético.</a:t>
            </a:r>
          </a:p>
          <a:p xmlns:a="http://schemas.openxmlformats.org/drawingml/2006/main">
            <a:pPr>
              <a:buNone/>
              <a:defRPr sz="18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Validação real ainda necessária.</a:t>
            </a:r>
          </a:p>
        </p:txBody>
      </p:sp>
      <p:sp>
        <p:nvSpPr>
          <p:cNvPr id="11" name="Famílias de descrição não são comparti">
            <a:extLst xmlns:a="http://schemas.openxmlformats.org/drawingml/2006/main">
              <a:ext uri="{FF2B5EF4-FFF2-40B4-BE49-F238E27FC236}">
                <a16:creationId xmlns:a16="http://schemas.microsoft.com/office/drawing/2014/main" id="{3FC91C0B-5261-4E54-A01D-9F9B1D5C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Famílias de descrição não são compartilhadas entre as partições.</a:t>
            </a:r>
          </a:p>
        </p:txBody>
      </p:sp>
    </p:spTree>
    <p:extLst>
      <p:ext uri="{BB962C8B-B14F-4D97-AF65-F5344CB8AC3E}">
        <p14:creationId xmlns:p14="http://schemas.microsoft.com/office/powerpoint/2010/main" val="13805430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LOONIEMIND">
            <a:extLst xmlns:a="http://schemas.openxmlformats.org/drawingml/2006/main">
              <a:ext uri="{FF2B5EF4-FFF2-40B4-BE49-F238E27FC236}">
                <a16:creationId xmlns:a16="http://schemas.microsoft.com/office/drawing/2014/main" id="{48A30B11-1E33-4747-9782-745ECE55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LOONIEMIND</a:t>
            </a:r>
          </a:p>
        </p:txBody>
      </p:sp>
      <p:sp>
        <p:nvSpPr>
          <p:cNvPr id="2" name="Prever é também medir o erro.">
            <a:extLst xmlns:a="http://schemas.openxmlformats.org/drawingml/2006/main">
              <a:ext uri="{FF2B5EF4-FFF2-40B4-BE49-F238E27FC236}">
                <a16:creationId xmlns:a16="http://schemas.microsoft.com/office/drawing/2014/main" id="{E94A6394-607F-4405-AAC5-D94C745E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Prever é também medir o erro.</a:t>
            </a:r>
          </a:p>
        </p:txBody>
      </p:sp>
      <p:sp>
        <p:nvSpPr>
          <p:cNvPr id="3" name="Receitas e despesas são estimadas sepa">
            <a:extLst xmlns:a="http://schemas.openxmlformats.org/drawingml/2006/main">
              <a:ext uri="{FF2B5EF4-FFF2-40B4-BE49-F238E27FC236}">
                <a16:creationId xmlns:a16="http://schemas.microsoft.com/office/drawing/2014/main" id="{324B6AC4-05B1-430D-9F0E-E03C19EC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Receitas e despesas são estimadas separadamente, com comparação temporal.</a:t>
            </a:r>
          </a:p>
        </p:txBody>
      </p:sp>
      <p:sp>
        <p:nvSpPr>
          <p:cNvPr id="4" name="LoonieMind · Projeto de gestão finance">
            <a:extLst xmlns:a="http://schemas.openxmlformats.org/drawingml/2006/main">
              <a:ext uri="{FF2B5EF4-FFF2-40B4-BE49-F238E27FC236}">
                <a16:creationId xmlns:a16="http://schemas.microsoft.com/office/drawing/2014/main" id="{25D90C10-8546-4ADD-81A7-B79A8956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LoonieMind · Projeto de gestão financeira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4C633EA2-71E1-4220-B5BD-AEA44433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484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3641975-AD25-452B-97DE-AE5489F7765F}"/>
              </a:ext>
            </a:extLst>
          </p:cNvPr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6191250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e3545f1bf24550"/>
          </a:graphicData>
        </a:graphic>
      </p:graphicFrame>
      <p:sp>
        <p:nvSpPr>
          <p:cNvPr id="7" name="21 dias reservados">
            <a:extLst xmlns:a="http://schemas.openxmlformats.org/drawingml/2006/main">
              <a:ext uri="{FF2B5EF4-FFF2-40B4-BE49-F238E27FC236}">
                <a16:creationId xmlns:a16="http://schemas.microsoft.com/office/drawing/2014/main" id="{43BB0051-5703-490D-ABEB-439B06E5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2892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21 dias reservados</a:t>
            </a:r>
          </a:p>
        </p:txBody>
      </p:sp>
      <p:sp>
        <p:nvSpPr>
          <p:cNvPr id="8" name="Validação cronológica,&#10;sem consultar o">
            <a:extLst xmlns:a="http://schemas.openxmlformats.org/drawingml/2006/main">
              <a:ext uri="{FF2B5EF4-FFF2-40B4-BE49-F238E27FC236}">
                <a16:creationId xmlns:a16="http://schemas.microsoft.com/office/drawing/2014/main" id="{B8F453FC-4A3D-485A-A666-B2EA4C8A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3337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Validação cronológica,</a:t>
            </a:r>
          </a:p>
          <a:p xmlns:a="http://schemas.openxmlformats.org/drawingml/2006/main">
            <a: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sem consultar o futuro.</a:t>
            </a:r>
          </a:p>
        </p:txBody>
      </p:sp>
      <p:sp>
        <p:nvSpPr>
          <p:cNvPr id="9" name="O menor erro decide">
            <a:extLst xmlns:a="http://schemas.openxmlformats.org/drawingml/2006/main">
              <a:ext uri="{FF2B5EF4-FFF2-40B4-BE49-F238E27FC236}">
                <a16:creationId xmlns:a16="http://schemas.microsoft.com/office/drawing/2014/main" id="{76A1A937-B654-4938-AF03-D3FC70EE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434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O menor erro decide</a:t>
            </a:r>
          </a:p>
        </p:txBody>
      </p:sp>
      <p:sp>
        <p:nvSpPr>
          <p:cNvPr id="10" name="A referência semanal venceu nas receit">
            <a:extLst xmlns:a="http://schemas.openxmlformats.org/drawingml/2006/main">
              <a:ext uri="{FF2B5EF4-FFF2-40B4-BE49-F238E27FC236}">
                <a16:creationId xmlns:a16="http://schemas.microsoft.com/office/drawing/2014/main" id="{3792C346-D40C-4DE8-ABB5-EAA7AD9E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84822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A referência semanal venceu nas receitas do cenário Studio.</a:t>
            </a:r>
          </a:p>
        </p:txBody>
      </p:sp>
      <p:sp>
        <p:nvSpPr>
          <p:cNvPr id="11" name="Dados fictícios · 07–27/out/2026 · Est">
            <a:extLst xmlns:a="http://schemas.openxmlformats.org/drawingml/2006/main">
              <a:ext uri="{FF2B5EF4-FFF2-40B4-BE49-F238E27FC236}">
                <a16:creationId xmlns:a16="http://schemas.microsoft.com/office/drawing/2014/main" id="{86D08A7F-82DA-499F-A677-6EA4A4F8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Dados fictícios · 07–27/out/2026 · Estimativa, sem garantia de saldo futuro.</a:t>
            </a:r>
          </a:p>
        </p:txBody>
      </p:sp>
    </p:spTree>
    <p:extLst>
      <p:ext uri="{BB962C8B-B14F-4D97-AF65-F5344CB8AC3E}">
        <p14:creationId xmlns:p14="http://schemas.microsoft.com/office/powerpoint/2010/main" val="10590967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OONIEMIND">
            <a:extLst xmlns:a="http://schemas.openxmlformats.org/drawingml/2006/main">
              <a:ext uri="{FF2B5EF4-FFF2-40B4-BE49-F238E27FC236}">
                <a16:creationId xmlns:a16="http://schemas.microsoft.com/office/drawing/2014/main" id="{F5B4ABDE-42E0-4CDA-A859-E8EFB7C5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LOONIEMIND</a:t>
            </a:r>
          </a:p>
        </p:txBody>
      </p:sp>
      <p:sp>
        <p:nvSpPr>
          <p:cNvPr id="2" name="Modelo de negócio proposto">
            <a:extLst xmlns:a="http://schemas.openxmlformats.org/drawingml/2006/main">
              <a:ext uri="{FF2B5EF4-FFF2-40B4-BE49-F238E27FC236}">
                <a16:creationId xmlns:a16="http://schemas.microsoft.com/office/drawing/2014/main" id="{C3A3E3AC-9E18-44B4-8F29-A202CCD8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C35"/>
                </a:solidFill>
                <a:latin typeface="Arial"/>
                <a:ea typeface="Arial"/>
                <a:cs typeface="Arial"/>
              </a:rPr>
              <a:t>Modelo de negócio proposto</a:t>
            </a:r>
          </a:p>
        </p:txBody>
      </p:sp>
      <p:sp>
        <p:nvSpPr>
          <p:cNvPr id="3" name="LoonieMind · Projeto de gestão financeira">
            <a:extLst xmlns:a="http://schemas.openxmlformats.org/drawingml/2006/main">
              <a:ext uri="{FF2B5EF4-FFF2-40B4-BE49-F238E27FC236}">
                <a16:creationId xmlns:a16="http://schemas.microsoft.com/office/drawing/2014/main" id="{D85A7BA1-C62F-45E7-9663-B241085C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LoonieMind · Projeto de gestão financeira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BB417C96-5CF9-4A60-BFF6-13EB8157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48425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Assinatura de software, complementada por ser">
            <a:extLst xmlns:a="http://schemas.openxmlformats.org/drawingml/2006/main">
              <a:ext uri="{FF2B5EF4-FFF2-40B4-BE49-F238E27FC236}">
                <a16:creationId xmlns:a16="http://schemas.microsoft.com/office/drawing/2014/main" id="{32B5F069-F40C-443A-A8F7-32851736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Assinatura de software, complementada por serviços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F594B-6316-4AA3-9F10-6CCC9176AC5B}"/>
              </a:ext>
            </a:extLst>
          </p:cNvPr>
          <p:cNvGraphicFramePr/>
          <p:nvPr/>
        </p:nvGraphicFramePr>
        <p:xfrm>
          <a:off xmlns:a="http://schemas.openxmlformats.org/drawingml/2006/main" x="685800" y="2838450"/>
          <a:ext xmlns:a="http://schemas.openxmlformats.org/drawingml/2006/main" cx="108204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0450"/>
                <a:gridCol w="3609975"/>
                <a:gridCol w="3609975"/>
              </a:tblGrid>
              <a:tr h="809625">
                <a:tc>
                  <a:txBody>
                    <a:bodyPr lIns="152400" tIns="152400" rIns="152400" bIns="1524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Bronze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3DB"/>
                      </a:solidFill>
                      <a:prstDash val="solid"/>
                    </a:lnL>
                    <a:lnR w="9525">
                      <a:solidFill>
                        <a:srgbClr val="D5E3DB"/>
                      </a:solidFill>
                      <a:prstDash val="solid"/>
                    </a:lnR>
                    <a:lnT w="9525">
                      <a:solidFill>
                        <a:srgbClr val="D5E3DB"/>
                      </a:solidFill>
                      <a:prstDash val="solid"/>
                    </a:lnT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173C35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Prata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T w="9525">
                      <a:solidFill>
                        <a:srgbClr val="D5E3DB"/>
                      </a:solidFill>
                      <a:prstDash val="solid"/>
                    </a:lnT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173C35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Ouro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T w="9525">
                      <a:solidFill>
                        <a:srgbClr val="D5E3DB"/>
                      </a:solidFill>
                      <a:prstDash val="solid"/>
                    </a:lnT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173C35"/>
                    </a:solidFill>
                  </a:tcPr>
                </a:tc>
              </a:tr>
              <a:tr h="809625">
                <a:tc>
                  <a:txBody>
                    <a:bodyPr lIns="152400" tIns="152400" rIns="152400" bIns="152400"/>
                    <a:lstStyle/>
                    <a:p>
                      <a:r>
                        <a:rPr sz="2925" b="1">
                          <a:solidFill>
                            <a:srgbClr val="258F83"/>
                          </a:solidFill>
                          <a:latin typeface="Arial"/>
                          <a:ea typeface="Arial"/>
                          <a:cs typeface="Arial"/>
                        </a:rPr>
                        <a:t>R$ 150/mês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3DB"/>
                      </a:solidFill>
                      <a:prstDash val="solid"/>
                    </a:lnL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2925" b="1">
                          <a:solidFill>
                            <a:srgbClr val="258F83"/>
                          </a:solidFill>
                          <a:latin typeface="Arial"/>
                          <a:ea typeface="Arial"/>
                          <a:cs typeface="Arial"/>
                        </a:rPr>
                        <a:t>R$ 250/mês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52400" rIns="152400" bIns="152400"/>
                    <a:lstStyle/>
                    <a:p>
                      <a:r>
                        <a:rPr sz="2925" b="1">
                          <a:solidFill>
                            <a:srgbClr val="258F83"/>
                          </a:solidFill>
                          <a:latin typeface="Arial"/>
                          <a:ea typeface="Arial"/>
                          <a:cs typeface="Arial"/>
                        </a:rPr>
                        <a:t>R$ 500/mês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3DB"/>
                      </a:solidFill>
                      <a:prstDash val="solid"/>
                    </a:lnR>
                    <a:lnB w="9525">
                      <a:solidFill>
                        <a:srgbClr val="D5E3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eita complementar">
            <a:extLst xmlns:a="http://schemas.openxmlformats.org/drawingml/2006/main">
              <a:ext uri="{FF2B5EF4-FFF2-40B4-BE49-F238E27FC236}">
                <a16:creationId xmlns:a16="http://schemas.microsoft.com/office/drawing/2014/main" id="{67EB3A89-2B95-4359-A64C-A840358C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58F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8F83"/>
                </a:solidFill>
                <a:latin typeface="Arial"/>
                <a:ea typeface="Arial"/>
                <a:cs typeface="Arial"/>
              </a:rPr>
              <a:t>Receita complementar</a:t>
            </a:r>
          </a:p>
        </p:txBody>
      </p:sp>
      <p:sp>
        <p:nvSpPr>
          <p:cNvPr id="8" name="Diagnóstico financeiro e treinamentos de gest">
            <a:extLst xmlns:a="http://schemas.openxmlformats.org/drawingml/2006/main">
              <a:ext uri="{FF2B5EF4-FFF2-40B4-BE49-F238E27FC236}">
                <a16:creationId xmlns:a16="http://schemas.microsoft.com/office/drawing/2014/main" id="{454A134A-E1F9-46A5-B190-2C6B756F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C35"/>
                </a:solidFill>
                <a:latin typeface="Arial"/>
                <a:ea typeface="Arial"/>
                <a:cs typeface="Arial"/>
              </a:rPr>
              <a:t>Diagnóstico financeiro e treinamentos de gestão</a:t>
            </a:r>
          </a:p>
        </p:txBody>
      </p:sp>
      <p:sp>
        <p:nvSpPr>
          <p:cNvPr id="9" name="Valores propostos no plano de negócio. A vers">
            <a:extLst xmlns:a="http://schemas.openxmlformats.org/drawingml/2006/main">
              <a:ext uri="{FF2B5EF4-FFF2-40B4-BE49-F238E27FC236}">
                <a16:creationId xmlns:a16="http://schemas.microsoft.com/office/drawing/2014/main" id="{3DF19FB5-FFBC-4302-87B1-F97F558A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D72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7267"/>
                </a:solidFill>
                <a:latin typeface="Arial"/>
                <a:ea typeface="Arial"/>
                <a:cs typeface="Arial"/>
              </a:rPr>
              <a:t>Valores propostos no plano de negócio. A versão demonstrada funciona localmente.</a:t>
            </a:r>
          </a:p>
        </p:txBody>
      </p:sp>
    </p:spTree>
    <p:extLst>
      <p:ext uri="{BB962C8B-B14F-4D97-AF65-F5344CB8AC3E}">
        <p14:creationId xmlns:p14="http://schemas.microsoft.com/office/powerpoint/2010/main" val="9778863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oonieMind.">
            <a:extLst xmlns:a="http://schemas.openxmlformats.org/drawingml/2006/main">
              <a:ext uri="{FF2B5EF4-FFF2-40B4-BE49-F238E27FC236}">
                <a16:creationId xmlns:a16="http://schemas.microsoft.com/office/drawing/2014/main" id="{FEF9ABEC-81F4-4F63-B394-F7662A69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LoonieMind.</a:t>
            </a:r>
          </a:p>
        </p:txBody>
      </p:sp>
      <p:sp>
        <p:nvSpPr>
          <p:cNvPr id="2" name="Clareza financeira&#10;para o pequeno negócio">
            <a:extLst xmlns:a="http://schemas.openxmlformats.org/drawingml/2006/main">
              <a:ext uri="{FF2B5EF4-FFF2-40B4-BE49-F238E27FC236}">
                <a16:creationId xmlns:a16="http://schemas.microsoft.com/office/drawing/2014/main" id="{E2456F61-6184-4DA1-8963-2E7706E2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Clareza financeira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o pequeno negócio</a:t>
            </a:r>
          </a:p>
        </p:txBody>
      </p:sp>
      <p:sp>
        <p:nvSpPr>
          <p:cNvPr id="3" name="Um histórico organizado e uma visão clara do ">
            <a:extLst xmlns:a="http://schemas.openxmlformats.org/drawingml/2006/main">
              <a:ext uri="{FF2B5EF4-FFF2-40B4-BE49-F238E27FC236}">
                <a16:creationId xmlns:a16="http://schemas.microsoft.com/office/drawing/2014/main" id="{6A3961A0-83A0-44A3-B75A-6FEEB52A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EE5DA"/>
                </a:solidFill>
                <a:latin typeface="Arial"/>
                <a:ea typeface="Arial"/>
                <a:cs typeface="Arial"/>
              </a:rPr>
              <a:t>Um histórico organizado e uma visão clara do caixa</a:t>
            </a:r>
          </a:p>
          <a:p xmlns:a="http://schemas.openxmlformats.org/drawingml/2006/main">
            <a:pPr>
              <a:defRPr sz="2100" b="0">
                <a:solidFill>
                  <a:srgbClr val="CEE5D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EE5DA"/>
                </a:solidFill>
                <a:latin typeface="Arial"/>
                <a:ea typeface="Arial"/>
                <a:cs typeface="Arial"/>
              </a:rPr>
              <a:t>para apoiar as decisões do empreendedor.</a:t>
            </a:r>
          </a:p>
        </p:txBody>
      </p:sp>
      <p:sp>
        <p:nvSpPr>
          <p:cNvPr id="4" name="DADOS RASTREÁVEIS · ESTIMATIVAS EXPLICÁVEIS ·">
            <a:extLst xmlns:a="http://schemas.openxmlformats.org/drawingml/2006/main">
              <a:ext uri="{FF2B5EF4-FFF2-40B4-BE49-F238E27FC236}">
                <a16:creationId xmlns:a16="http://schemas.microsoft.com/office/drawing/2014/main" id="{FA8A9F60-3A87-4503-9E84-7AE7512B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72200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FCD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FCDBD"/>
                </a:solidFill>
                <a:latin typeface="Arial"/>
                <a:ea typeface="Arial"/>
                <a:cs typeface="Arial"/>
              </a:rPr>
              <a:t>DADOS RASTREÁVEIS · ESTIMATIVAS EXPLICÁVEIS · REVISÃO HUMANA</a:t>
            </a:r>
          </a:p>
        </p:txBody>
      </p:sp>
    </p:spTree>
    <p:extLst>
      <p:ext uri="{BB962C8B-B14F-4D97-AF65-F5344CB8AC3E}">
        <p14:creationId xmlns:p14="http://schemas.microsoft.com/office/powerpoint/2010/main" val="2018717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2026-10-28T02:51:01.2020000Z</dcterms:created>
  <dcterms:modified xsi:type="dcterms:W3CDTF">2026-10-28T02:51:01.2020000Z</dcterms:modified>
</coreProperties>
</file>