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0f9d3acc52048a4" /><Relationship Type="http://schemas.openxmlformats.org/officeDocument/2006/relationships/extended-properties" Target="/docProps/app.xml" Id="Rc6ccb4d6892747cc" /><Relationship Type="http://schemas.openxmlformats.org/officeDocument/2006/relationships/officeDocument" Target="/ppt/presentation.xml" Id="Rfcd06884cae446c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7104c1fb15945b1"/>
  </p:sldMasterIdLst>
  <p:notesMasterIdLst>
    <p:notesMasterId xmlns:r="http://schemas.openxmlformats.org/officeDocument/2006/relationships" r:id="Rcaf7efe0562243eb"/>
  </p:notesMasterIdLst>
  <p:sldIdLst>
    <p:sldId xmlns:r="http://schemas.openxmlformats.org/officeDocument/2006/relationships" id="256" r:id="R24b6f676c4824f74"/>
    <p:sldId xmlns:r="http://schemas.openxmlformats.org/officeDocument/2006/relationships" id="257" r:id="R9e5b219e404240df"/>
    <p:sldId xmlns:r="http://schemas.openxmlformats.org/officeDocument/2006/relationships" id="258" r:id="Rf2cab40c85574d58"/>
    <p:sldId xmlns:r="http://schemas.openxmlformats.org/officeDocument/2006/relationships" id="259" r:id="R2a4d796905424d88"/>
    <p:sldId xmlns:r="http://schemas.openxmlformats.org/officeDocument/2006/relationships" id="260" r:id="R7f8c5cdb569b4b3f"/>
    <p:sldId xmlns:r="http://schemas.openxmlformats.org/officeDocument/2006/relationships" id="261" r:id="Rc007b2f327bc4ec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ab874971d4b450b" /><Relationship Type="http://schemas.openxmlformats.org/officeDocument/2006/relationships/slideMaster" Target="/ppt/slideMasters/slideMaster1.xml" Id="Ra7104c1fb15945b1" /><Relationship Type="http://schemas.openxmlformats.org/officeDocument/2006/relationships/notesMaster" Target="/ppt/notesMasters/notesMaster1.xml" Id="Rcaf7efe0562243eb" /><Relationship Type="http://schemas.openxmlformats.org/officeDocument/2006/relationships/presProps" Target="/ppt/presProps.xml" Id="Re463cd35e1384948" /><Relationship Type="http://schemas.openxmlformats.org/officeDocument/2006/relationships/tableStyles" Target="/ppt/tableStyles.xml" Id="R7823075d1a364a78" /><Relationship Type="http://schemas.openxmlformats.org/officeDocument/2006/relationships/slide" Target="/ppt/slides/slide1.xml" Id="R24b6f676c4824f74" /><Relationship Type="http://schemas.openxmlformats.org/officeDocument/2006/relationships/slide" Target="/ppt/slides/slide2.xml" Id="R9e5b219e404240df" /><Relationship Type="http://schemas.openxmlformats.org/officeDocument/2006/relationships/slide" Target="/ppt/slides/slide3.xml" Id="Rf2cab40c85574d58" /><Relationship Type="http://schemas.openxmlformats.org/officeDocument/2006/relationships/slide" Target="/ppt/slides/slide4.xml" Id="R2a4d796905424d88" /><Relationship Type="http://schemas.openxmlformats.org/officeDocument/2006/relationships/slide" Target="/ppt/slides/slide5.xml" Id="R7f8c5cdb569b4b3f" /><Relationship Type="http://schemas.openxmlformats.org/officeDocument/2006/relationships/slide" Target="/ppt/slides/slide6.xml" Id="Rc007b2f327bc4ec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5b106c08e57488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fad9878fce249c6" /><Relationship Type="http://schemas.openxmlformats.org/officeDocument/2006/relationships/notesMaster" Target="/ppt/notesMasters/notesMaster1.xml" Id="R83e4a6ead16b472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6bbe6db76dd49e1" /><Relationship Type="http://schemas.openxmlformats.org/officeDocument/2006/relationships/notesMaster" Target="/ppt/notesMasters/notesMaster1.xml" Id="R7ad9c343f3f94fe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062796ae97d4ec0" /><Relationship Type="http://schemas.openxmlformats.org/officeDocument/2006/relationships/notesMaster" Target="/ppt/notesMasters/notesMaster1.xml" Id="R0e130890869f451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488491045a74cbe" /><Relationship Type="http://schemas.openxmlformats.org/officeDocument/2006/relationships/notesMaster" Target="/ppt/notesMasters/notesMaster1.xml" Id="R01e1405e5364464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2b0a48ee0f64493" /><Relationship Type="http://schemas.openxmlformats.org/officeDocument/2006/relationships/notesMaster" Target="/ppt/notesMasters/notesMaster1.xml" Id="R40455f7bacb24c1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6429cc60cbc44ca" /><Relationship Type="http://schemas.openxmlformats.org/officeDocument/2006/relationships/notesMaster" Target="/ppt/notesMasters/notesMaster1.xml" Id="Rcd0ac1c6f9c54bd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previsto: 20s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LoonieMind é uma proposta de solução para ajudar pequenos negócios a organizar o caixa e entender o que seus números indicam. A ideia é reunir informações que normalmente ficam espalhadas em planilhas e transformar esse histórico em uma rotina mais clara de acompanhamento e planejamento.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e evidências:</a:t>
            </a:r>
          </a:p>
          <a:p xmlns:a="http://schemas.openxmlformats.org/drawingml/2006/main">
            <a:r>
              <a:t>Escopo implementado em README.md e docs/DECISOES-E-ESCOPO.md. Projeto apresentado sem alegações de empresa formalizada, clientes ou resultados comerciais.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previsto: 40s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ponto de partida é uma dificuldade comum na gestão: ter os registros e ainda gastar tempo para descobrir quanto entrou, quanto saiu e o que precisa de atenção. O fluxo do LoonieMind começa com a importação da planilha. Antes de gravar, ele apresenta uma prévia e aponta problemas. Depois, a pessoa revisa as categorias, acompanha os indicadores e exporta os relatórios. A proposta de valor é organizar a rotina e apoiar decisões com dados rastreáveis.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e evidências:</a:t>
            </a:r>
          </a:p>
          <a:p xmlns:a="http://schemas.openxmlformats.org/drawingml/2006/main">
            <a:r>
              <a:t>Código funcional: looniemind/imports.py, services.py, workbooks.py e web/app.js. Proposta de valor do projeto; sem estatísticas externas de mercado.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previsto: 50s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Esta é uma tela real da aplicação, usando a empresa fictícia Aurora Comércio. O saldo consolidado mostra todo o caixa desde a referência. Entradas, saídas e resultado mostram o período selecionado. Essa diferença evita confundir o resultado do mês com o dinheiro disponível. O gráfico permite acompanhar a evolução do saldo, enquanto as pendências e a projeção ficam ao lado. As planilhas também ganharam documento, cliente ou fornecedor, centro de custo, conta e forma de pagamento. Assim, o resumo pode ser conferido até o lançamento de origem.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e evidências:</a:t>
            </a:r>
          </a:p>
          <a:p xmlns:a="http://schemas.openxmlformats.org/drawingml/2006/main">
            <a:r>
              <a:t>Captura da aplicação local, versão 1.1, empresa fictícia Aurora Comércio, em 27/10/2026. docs/01-prototipacao/dashboard-apresentacao-v1.1.jpg. Dados sintéticos de datasets/sintetica-v2.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previsto: 65s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primeira aplicação de inteligência artificial é a classificação. A descrição é convertida em números por TF-IDF de palavras e caracteres, e um classificador LightGBM aprende a sugerir tipo e categoria. Foram gerados quatorze mil e quatrocentos exemplos, distribuídos em doze classes. As variações da mesma família de descrição ficam juntas, para evitar repetir o mesmo padrão no treino e no teste. O F1 macro medido no teste foi zero vírgula seis sete seis seis. É um resultado sintético, com diferenças entre categorias, e não uma garantia de acerto em empresas reais. Por isso, a pessoa confirma ou corrige as sugestões. As correções só entram no modelo depois de um novo treinamento explícito.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e evidências:</a:t>
            </a:r>
          </a:p>
          <a:p xmlns:a="http://schemas.openxmlformats.org/drawingml/2006/main">
            <a:r>
              <a:t>docs/relatorios/avaliacao-v1.1.json: modelo 16d06098da41, F1 macro de teste 0,6766, validação 0,6034. Base: 14.400 exemplos, 288 famílias, 12 classes. Código: looniemind/models.py. Conceitos: https://scikit-learn.org/stable/modules/feature_extraction.html e https://scikit-learn.org/stable/modules/generated/sklearn.metrics.f1_score.html.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previsto: 60s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segunda aplicação é a previsão de fluxo de caixa. O sistema estima receitas e despesas separadamente e combina as duas com o saldo atual. Com histórico suficiente, compara um LightGBM Regressor com a repetição do padrão semanal. Os dias mais recentes ficam fora do treino para uma validação cronológica, sem usar dados do futuro. O método com menor erro é escolhido para cada série. No cenário Aurora, o erro médio diário das receitas foi cerca de cento e trinta e seis reais com LightGBM, frente a cento e quarenta e seis da referência. Em outro cenário, a referência semanal venceu. Isso mostra por que medir é necessário. A projeção é uma estimativa e não substitui a conferência das contas futuras.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e evidências:</a:t>
            </a:r>
          </a:p>
          <a:p xmlns:a="http://schemas.openxmlformats.org/drawingml/2006/main">
            <a:r>
              <a:t>docs/relatorios/avaliacao-v1.1.json, Aurora/receitas: MAE LightGBM R$ 135,89/dia; referência semanal R$ 145,59/dia, janela 07–27/10/2026. Studio/receitas: referência escolhida. A mesma janela é usada para comparar e selecionar o método, sem teste externo independente. Código: ForecastService em looniemind/models.py. https://lightgbm.readthedocs.io/en/stable/Python-API.html.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previsto: 35s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aplicação já reúne importação, revisão, dashboard, previsão, relatórios e backup, funcionando localmente. A base ampliada inclui mais de dez mil movimentações financeiras fictícias, além dos exemplos de classificação. O próximo passo para uso real é validar a rotina com empresas, reunir dados revisados e acompanhar os erros ao longo do tempo. A visão do LoonieMind é apoiar a gestão financeira com organização, transparência e inteligência artificial sob supervisão humana.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e evidências:</a:t>
            </a:r>
          </a:p>
          <a:p xmlns:a="http://schemas.openxmlformats.org/drawingml/2006/main">
            <a:r>
              <a:t>Manifesto: datasets/sintetica-v2/manifesto.json, 10.965 movimentos financeiros + 14.400 exemplos rotulados. Sistema local; autenticação, permissões e validação em operação real ainda são etapas futuras. Documentação: docs/MANUAL-SISTEMA-E-IA.md.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373e2305f14a3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8ff49f7bd04cd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5604523bd8419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056c66b1e448c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28f2104992416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8a66c7f2cd4ae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333945F-D109-44E5-AED1-DC991E7EFC1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39F8F39-01C6-4D32-91AC-9D1BA1BED5F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0546D66-7D3C-4CEF-ACB2-0E00CC5190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DB44524-4A36-4486-99E0-7352C020F4B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1E27E56-DCAD-4C2F-86A9-4D2D9CA28E1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64CCE03-042C-43C2-9A49-EFDB9F4688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41F0DFC-2D24-46B5-B277-0519D41E8FC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60B4207-1B9B-4EB5-BC58-D02D4A1D04A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003B9D4-2810-4CA1-83B7-808B8087B8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A24E17A-9FE6-4113-B716-336FD8B16D4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8be701f81a34773" /><Relationship Type="http://schemas.openxmlformats.org/officeDocument/2006/relationships/slideLayout" Target="/ppt/slideLayouts/slideLayout1.xml" Id="R41a120eb484f4199" /><Relationship Type="http://schemas.openxmlformats.org/officeDocument/2006/relationships/slideLayout" Target="/ppt/slideLayouts/slideLayout2.xml" Id="R4d5bf5d8ba39428c" /><Relationship Type="http://schemas.openxmlformats.org/officeDocument/2006/relationships/slideLayout" Target="/ppt/slideLayouts/slideLayout3.xml" Id="R77c69f88eba04089" /><Relationship Type="http://schemas.openxmlformats.org/officeDocument/2006/relationships/slideLayout" Target="/ppt/slideLayouts/slideLayout4.xml" Id="R9e96564061e44699" /><Relationship Type="http://schemas.openxmlformats.org/officeDocument/2006/relationships/slideLayout" Target="/ppt/slideLayouts/slideLayout5.xml" Id="R841774c26be5472b" /><Relationship Type="http://schemas.openxmlformats.org/officeDocument/2006/relationships/slideLayout" Target="/ppt/slideLayouts/slideLayout6.xml" Id="R25d1abb481c2454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1a120eb484f4199"/>
    <p:sldLayoutId xmlns:r="http://schemas.openxmlformats.org/officeDocument/2006/relationships" id="2147483650" r:id="R4d5bf5d8ba39428c"/>
    <p:sldLayoutId xmlns:r="http://schemas.openxmlformats.org/officeDocument/2006/relationships" id="2147483651" r:id="R77c69f88eba04089"/>
    <p:sldLayoutId xmlns:r="http://schemas.openxmlformats.org/officeDocument/2006/relationships" id="2147483652" r:id="R9e96564061e44699"/>
    <p:sldLayoutId xmlns:r="http://schemas.openxmlformats.org/officeDocument/2006/relationships" id="2147483653" r:id="R841774c26be5472b"/>
    <p:sldLayoutId xmlns:r="http://schemas.openxmlformats.org/officeDocument/2006/relationships" id="2147483654" r:id="R25d1abb481c2454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5b8da83be94e34" /><Relationship Type="http://schemas.openxmlformats.org/officeDocument/2006/relationships/notesSlide" Target="/ppt/notesSlides/notesSlide1.xml" Id="R755906a190e64a4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9ce5f7d4294e22" /><Relationship Type="http://schemas.openxmlformats.org/officeDocument/2006/relationships/notesSlide" Target="/ppt/notesSlides/notesSlide2.xml" Id="R7bc14ea03250480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254f814fc9422a" /><Relationship Type="http://schemas.openxmlformats.org/officeDocument/2006/relationships/image" Target="/ppt/media/image.jpeg" Id="R1f29fc9086f84c90" /><Relationship Type="http://schemas.openxmlformats.org/officeDocument/2006/relationships/notesSlide" Target="/ppt/notesSlides/notesSlide3.xml" Id="R0e52a7de574443d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b74bf7735c4e30" /><Relationship Type="http://schemas.openxmlformats.org/officeDocument/2006/relationships/notesSlide" Target="/ppt/notesSlides/notesSlide4.xml" Id="Rbcd902604b534b9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37463f24b24003" /><Relationship Type="http://schemas.openxmlformats.org/officeDocument/2006/relationships/chart" Target="/ppt/slides/charts/chart1.xml" Id="R1fc18580563047b8" /><Relationship Type="http://schemas.openxmlformats.org/officeDocument/2006/relationships/notesSlide" Target="/ppt/notesSlides/notesSlide5.xml" Id="R9fb8e7e6fe8c47e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cf9fc911014276" /><Relationship Type="http://schemas.openxmlformats.org/officeDocument/2006/relationships/notesSlide" Target="/ppt/notesSlides/notesSlide6.xml" Id="Rb07b0dc12f89436d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75" b="1">
                <a:solidFill>
                  <a:srgbClr val="173C35"/>
                </a:solidFill>
                <a:latin typeface="Arial"/>
                <a:ea typeface="Arial"/>
                <a:cs typeface="Arial"/>
              </a:rPr>
              <a:t>MAE das receitas · Aurora (R$/dia)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75" b="1">
              <a:solidFill>
                <a:srgbClr val="173C35"/>
              </a:solidFill>
              <a:latin typeface="Arial"/>
              <a:ea typeface="Arial"/>
              <a:cs typeface="Arial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MAE (R$/dia)</c:v>
          </c:tx>
          <c:spPr>
            <a:solidFill xmlns:a="http://schemas.openxmlformats.org/drawingml/2006/main">
              <a:srgbClr val="258F83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LightGBM</c:v>
                </c:pt>
                <c:pt idx="1">
                  <c:v>Referência semanal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135.89</c:v>
                </c:pt>
                <c:pt idx="1">
                  <c:v>145.59</c:v>
                </c:pt>
              </c:numCache>
            </c:numRef>
          </c:val>
        </c:ser>
        <c:dLbls>
          <c:numFmt formatCode="&quot;R$&quot; 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 b="1">
                  <a:solidFill>
                    <a:srgbClr val="173C35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3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5E3DB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D7267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8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5E3DB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D7267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60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C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LoonieMind.">
            <a:extLst xmlns:a="http://schemas.openxmlformats.org/drawingml/2006/main">
              <a:ext uri="{FF2B5EF4-FFF2-40B4-BE49-F238E27FC236}">
                <a16:creationId xmlns:a16="http://schemas.microsoft.com/office/drawing/2014/main" id="{17612F31-D0BC-4779-B4B2-C3A642000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5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5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5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5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5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5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5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5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5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5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5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LoonieMind.</a:t>
            </a:r>
          </a:p>
        </p:txBody>
      </p:sp>
      <p:sp>
        <p:nvSpPr>
          <p:cNvPr id="2" name="Finanças com clareza&#10;para pequenos neg">
            <a:extLst xmlns:a="http://schemas.openxmlformats.org/drawingml/2006/main">
              <a:ext uri="{FF2B5EF4-FFF2-40B4-BE49-F238E27FC236}">
                <a16:creationId xmlns:a16="http://schemas.microsoft.com/office/drawing/2014/main" id="{1DBE51F5-0A33-424D-B5D7-6CB5C39F5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0572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Finanças com clareza</a:t>
            </a:r>
          </a:p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para pequenos negócios.</a:t>
            </a:r>
          </a:p>
        </p:txBody>
      </p:sp>
      <p:sp>
        <p:nvSpPr>
          <p:cNvPr id="3" name="Organização financeira e IA sob superv">
            <a:extLst xmlns:a="http://schemas.openxmlformats.org/drawingml/2006/main">
              <a:ext uri="{FF2B5EF4-FFF2-40B4-BE49-F238E27FC236}">
                <a16:creationId xmlns:a16="http://schemas.microsoft.com/office/drawing/2014/main" id="{A06E85FD-7EA8-47F4-8A23-807219D37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1012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CEE5DA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CEE5DA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CEE5DA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CEE5DA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CEE5DA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CEE5DA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CEE5DA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CEE5DA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CEE5DA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CEE5D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CEE5D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CEE5DA"/>
                </a:solidFill>
                <a:latin typeface="Arial"/>
                <a:ea typeface="Arial"/>
                <a:cs typeface="Arial"/>
              </a:rPr>
              <a:t>Organização financeira e IA sob supervisão humana.</a:t>
            </a:r>
          </a:p>
        </p:txBody>
      </p:sp>
      <p:sp>
        <p:nvSpPr>
          <p:cNvPr id="4" name="PROPOSTA DE SOLUÇÃO · APLICAÇÃO LOCAL">
            <a:extLst xmlns:a="http://schemas.openxmlformats.org/drawingml/2006/main">
              <a:ext uri="{FF2B5EF4-FFF2-40B4-BE49-F238E27FC236}">
                <a16:creationId xmlns:a16="http://schemas.microsoft.com/office/drawing/2014/main" id="{39B806C4-4AD2-499E-A6E1-CBDBF721B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1531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AFCDBD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AFCDBD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AFCDBD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AFCDBD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AFCDBD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AFCDBD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AFCDBD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AFCDBD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AFCDBD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AFCDB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AFCDB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FCDBD"/>
                </a:solidFill>
                <a:latin typeface="Arial"/>
                <a:ea typeface="Arial"/>
                <a:cs typeface="Arial"/>
              </a:rPr>
              <a:t>PROPOSTA DE SOLUÇÃO · APLICAÇÃO LOCAL</a:t>
            </a:r>
          </a:p>
        </p:txBody>
      </p:sp>
    </p:spTree>
    <p:extLst>
      <p:ext uri="{BB962C8B-B14F-4D97-AF65-F5344CB8AC3E}">
        <p14:creationId xmlns:p14="http://schemas.microsoft.com/office/powerpoint/2010/main" val="6379373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LOONIEMIND">
            <a:extLst xmlns:a="http://schemas.openxmlformats.org/drawingml/2006/main">
              <a:ext uri="{FF2B5EF4-FFF2-40B4-BE49-F238E27FC236}">
                <a16:creationId xmlns:a16="http://schemas.microsoft.com/office/drawing/2014/main" id="{17511603-93C5-46FE-9C1E-847BE61F1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8F83"/>
                </a:solidFill>
                <a:latin typeface="Arial"/>
                <a:ea typeface="Arial"/>
                <a:cs typeface="Arial"/>
              </a:rPr>
              <a:t>LOONIEMIND</a:t>
            </a:r>
          </a:p>
        </p:txBody>
      </p:sp>
      <p:sp>
        <p:nvSpPr>
          <p:cNvPr id="2" name="Da planilha à decisão.">
            <a:extLst xmlns:a="http://schemas.openxmlformats.org/drawingml/2006/main">
              <a:ext uri="{FF2B5EF4-FFF2-40B4-BE49-F238E27FC236}">
                <a16:creationId xmlns:a16="http://schemas.microsoft.com/office/drawing/2014/main" id="{60DDE686-9F80-4DDC-A0DC-D1AE3FACC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C35"/>
                </a:solidFill>
                <a:latin typeface="Arial"/>
                <a:ea typeface="Arial"/>
                <a:cs typeface="Arial"/>
              </a:rPr>
              <a:t>Da planilha à decisão.</a:t>
            </a:r>
          </a:p>
        </p:txBody>
      </p:sp>
      <p:sp>
        <p:nvSpPr>
          <p:cNvPr id="3" name="Uma rotina para reunir registros, revi">
            <a:extLst xmlns:a="http://schemas.openxmlformats.org/drawingml/2006/main">
              <a:ext uri="{FF2B5EF4-FFF2-40B4-BE49-F238E27FC236}">
                <a16:creationId xmlns:a16="http://schemas.microsoft.com/office/drawing/2014/main" id="{368A0AEE-F195-47A9-8169-83AFA1248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1082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D7267"/>
                </a:solidFill>
                <a:latin typeface="Arial"/>
                <a:ea typeface="Arial"/>
                <a:cs typeface="Arial"/>
              </a:rPr>
              <a:t>Uma rotina para reunir registros, revisar e entender o caixa.</a:t>
            </a:r>
          </a:p>
        </p:txBody>
      </p:sp>
      <p:sp>
        <p:nvSpPr>
          <p:cNvPr id="4" name="LoonieMind · Projeto de gestão finance">
            <a:extLst xmlns:a="http://schemas.openxmlformats.org/drawingml/2006/main">
              <a:ext uri="{FF2B5EF4-FFF2-40B4-BE49-F238E27FC236}">
                <a16:creationId xmlns:a16="http://schemas.microsoft.com/office/drawing/2014/main" id="{325D4105-8A82-4C66-91E0-C3F83079E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7267"/>
                </a:solidFill>
                <a:latin typeface="Arial"/>
                <a:ea typeface="Arial"/>
                <a:cs typeface="Arial"/>
              </a:rPr>
              <a:t>LoonieMind · Projeto de gestão financeira</a:t>
            </a:r>
          </a:p>
        </p:txBody>
      </p:sp>
      <p:sp>
        <p:nvSpPr>
          <p:cNvPr id="5" name="02">
            <a:extLst xmlns:a="http://schemas.openxmlformats.org/drawingml/2006/main">
              <a:ext uri="{FF2B5EF4-FFF2-40B4-BE49-F238E27FC236}">
                <a16:creationId xmlns:a16="http://schemas.microsoft.com/office/drawing/2014/main" id="{BFF1C60F-6340-4320-8236-ED7CAF0F6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6448425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8F8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01">
            <a:extLst xmlns:a="http://schemas.openxmlformats.org/drawingml/2006/main">
              <a:ext uri="{FF2B5EF4-FFF2-40B4-BE49-F238E27FC236}">
                <a16:creationId xmlns:a16="http://schemas.microsoft.com/office/drawing/2014/main" id="{D1C6AC45-1F81-4B03-9C23-1974C7DDD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19425"/>
            <a:ext cx="2286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510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defPPr>
            <a:lvl1pPr>
              <a:defRPr sz="510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1pPr>
            <a:lvl2pPr>
              <a:defRPr sz="510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2pPr>
            <a:lvl3pPr>
              <a:defRPr sz="510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3pPr>
            <a:lvl4pPr>
              <a:defRPr sz="510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4pPr>
            <a:lvl5pPr>
              <a:defRPr sz="510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5pPr>
            <a:lvl6pPr>
              <a:defRPr sz="510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6pPr>
            <a:lvl7pPr>
              <a:defRPr sz="510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7pPr>
            <a:lvl8pPr>
              <a:defRPr sz="510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8pPr>
            <a:lvl9pPr>
              <a:defRPr sz="510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510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258F8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Importar e conferir">
            <a:extLst xmlns:a="http://schemas.openxmlformats.org/drawingml/2006/main">
              <a:ext uri="{FF2B5EF4-FFF2-40B4-BE49-F238E27FC236}">
                <a16:creationId xmlns:a16="http://schemas.microsoft.com/office/drawing/2014/main" id="{BCDF5AC7-EB9C-4A22-91E1-DF53223A6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2333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C35"/>
                </a:solidFill>
                <a:latin typeface="Arial"/>
                <a:ea typeface="Arial"/>
                <a:cs typeface="Arial"/>
              </a:rPr>
              <a:t>Importar e conferir</a:t>
            </a:r>
          </a:p>
        </p:txBody>
      </p:sp>
      <p:sp>
        <p:nvSpPr>
          <p:cNvPr id="8" name="Prévia, validação e origem dos dados.">
            <a:extLst xmlns:a="http://schemas.openxmlformats.org/drawingml/2006/main">
              <a:ext uri="{FF2B5EF4-FFF2-40B4-BE49-F238E27FC236}">
                <a16:creationId xmlns:a16="http://schemas.microsoft.com/office/drawing/2014/main" id="{80643ABB-5E29-45A7-AFE1-931E5ED3C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38725"/>
            <a:ext cx="22383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D7267"/>
                </a:solidFill>
                <a:latin typeface="Arial"/>
                <a:ea typeface="Arial"/>
                <a:cs typeface="Arial"/>
              </a:rPr>
              <a:t>Prévia, validação e origem dos dados.</a:t>
            </a:r>
          </a:p>
        </p:txBody>
      </p:sp>
      <p:sp>
        <p:nvSpPr>
          <p:cNvPr id="9" name="02">
            <a:extLst xmlns:a="http://schemas.openxmlformats.org/drawingml/2006/main">
              <a:ext uri="{FF2B5EF4-FFF2-40B4-BE49-F238E27FC236}">
                <a16:creationId xmlns:a16="http://schemas.microsoft.com/office/drawing/2014/main" id="{ACCA7610-E20E-42B0-8FF0-BA3CFD96E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019425"/>
            <a:ext cx="2286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510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defPPr>
            <a:lvl1pPr>
              <a:defRPr sz="510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1pPr>
            <a:lvl2pPr>
              <a:defRPr sz="510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2pPr>
            <a:lvl3pPr>
              <a:defRPr sz="510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3pPr>
            <a:lvl4pPr>
              <a:defRPr sz="510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4pPr>
            <a:lvl5pPr>
              <a:defRPr sz="510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5pPr>
            <a:lvl6pPr>
              <a:defRPr sz="510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6pPr>
            <a:lvl7pPr>
              <a:defRPr sz="510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7pPr>
            <a:lvl8pPr>
              <a:defRPr sz="510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8pPr>
            <a:lvl9pPr>
              <a:defRPr sz="510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510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258F8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Revisar categorias">
            <a:extLst xmlns:a="http://schemas.openxmlformats.org/drawingml/2006/main">
              <a:ext uri="{FF2B5EF4-FFF2-40B4-BE49-F238E27FC236}">
                <a16:creationId xmlns:a16="http://schemas.microsoft.com/office/drawing/2014/main" id="{0D29F6E0-97DC-4049-8B2F-8DF73DB7D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019550"/>
            <a:ext cx="2333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C35"/>
                </a:solidFill>
                <a:latin typeface="Arial"/>
                <a:ea typeface="Arial"/>
                <a:cs typeface="Arial"/>
              </a:rPr>
              <a:t>Revisar categorias</a:t>
            </a:r>
          </a:p>
        </p:txBody>
      </p:sp>
      <p:sp>
        <p:nvSpPr>
          <p:cNvPr id="11" name="Sugestões com confirmação humana.">
            <a:extLst xmlns:a="http://schemas.openxmlformats.org/drawingml/2006/main">
              <a:ext uri="{FF2B5EF4-FFF2-40B4-BE49-F238E27FC236}">
                <a16:creationId xmlns:a16="http://schemas.microsoft.com/office/drawing/2014/main" id="{DF5121F0-01F9-4DA1-8609-BE27162D4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038725"/>
            <a:ext cx="22383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D7267"/>
                </a:solidFill>
                <a:latin typeface="Arial"/>
                <a:ea typeface="Arial"/>
                <a:cs typeface="Arial"/>
              </a:rPr>
              <a:t>Sugestões com confirmação humana.</a:t>
            </a:r>
          </a:p>
        </p:txBody>
      </p:sp>
      <p:sp>
        <p:nvSpPr>
          <p:cNvPr id="12" name="03">
            <a:extLst xmlns:a="http://schemas.openxmlformats.org/drawingml/2006/main">
              <a:ext uri="{FF2B5EF4-FFF2-40B4-BE49-F238E27FC236}">
                <a16:creationId xmlns:a16="http://schemas.microsoft.com/office/drawing/2014/main" id="{00733106-F6E1-40B4-A638-0FD65512B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019425"/>
            <a:ext cx="2286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510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defPPr>
            <a:lvl1pPr>
              <a:defRPr sz="510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1pPr>
            <a:lvl2pPr>
              <a:defRPr sz="510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2pPr>
            <a:lvl3pPr>
              <a:defRPr sz="510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3pPr>
            <a:lvl4pPr>
              <a:defRPr sz="510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4pPr>
            <a:lvl5pPr>
              <a:defRPr sz="510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5pPr>
            <a:lvl6pPr>
              <a:defRPr sz="510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6pPr>
            <a:lvl7pPr>
              <a:defRPr sz="510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7pPr>
            <a:lvl8pPr>
              <a:defRPr sz="510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8pPr>
            <a:lvl9pPr>
              <a:defRPr sz="510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510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258F8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Acompanhar o caixa">
            <a:extLst xmlns:a="http://schemas.openxmlformats.org/drawingml/2006/main">
              <a:ext uri="{FF2B5EF4-FFF2-40B4-BE49-F238E27FC236}">
                <a16:creationId xmlns:a16="http://schemas.microsoft.com/office/drawing/2014/main" id="{1976BDE5-6813-4974-B297-D304FC4BF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19550"/>
            <a:ext cx="2333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C35"/>
                </a:solidFill>
                <a:latin typeface="Arial"/>
                <a:ea typeface="Arial"/>
                <a:cs typeface="Arial"/>
              </a:rPr>
              <a:t>Acompanhar o caixa</a:t>
            </a:r>
          </a:p>
        </p:txBody>
      </p:sp>
      <p:sp>
        <p:nvSpPr>
          <p:cNvPr id="14" name="Saldo, resultado e estimativa futura.">
            <a:extLst xmlns:a="http://schemas.openxmlformats.org/drawingml/2006/main">
              <a:ext uri="{FF2B5EF4-FFF2-40B4-BE49-F238E27FC236}">
                <a16:creationId xmlns:a16="http://schemas.microsoft.com/office/drawing/2014/main" id="{719A20DE-7388-44F4-B531-1FA4E0799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038725"/>
            <a:ext cx="22383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D7267"/>
                </a:solidFill>
                <a:latin typeface="Arial"/>
                <a:ea typeface="Arial"/>
                <a:cs typeface="Arial"/>
              </a:rPr>
              <a:t>Saldo, resultado e estimativa futura.</a:t>
            </a:r>
          </a:p>
        </p:txBody>
      </p:sp>
      <p:sp>
        <p:nvSpPr>
          <p:cNvPr id="15" name="04">
            <a:extLst xmlns:a="http://schemas.openxmlformats.org/drawingml/2006/main">
              <a:ext uri="{FF2B5EF4-FFF2-40B4-BE49-F238E27FC236}">
                <a16:creationId xmlns:a16="http://schemas.microsoft.com/office/drawing/2014/main" id="{6FA9C8D8-13EC-413B-9687-2C1412656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19425"/>
            <a:ext cx="2286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510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defPPr>
            <a:lvl1pPr>
              <a:defRPr sz="510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1pPr>
            <a:lvl2pPr>
              <a:defRPr sz="510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2pPr>
            <a:lvl3pPr>
              <a:defRPr sz="510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3pPr>
            <a:lvl4pPr>
              <a:defRPr sz="510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4pPr>
            <a:lvl5pPr>
              <a:defRPr sz="510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5pPr>
            <a:lvl6pPr>
              <a:defRPr sz="510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6pPr>
            <a:lvl7pPr>
              <a:defRPr sz="510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7pPr>
            <a:lvl8pPr>
              <a:defRPr sz="510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8pPr>
            <a:lvl9pPr>
              <a:defRPr sz="510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510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258F8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Exportar e guardar">
            <a:extLst xmlns:a="http://schemas.openxmlformats.org/drawingml/2006/main">
              <a:ext uri="{FF2B5EF4-FFF2-40B4-BE49-F238E27FC236}">
                <a16:creationId xmlns:a16="http://schemas.microsoft.com/office/drawing/2014/main" id="{61834363-847B-420A-8735-4E2B864EF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019550"/>
            <a:ext cx="2333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C35"/>
                </a:solidFill>
                <a:latin typeface="Arial"/>
                <a:ea typeface="Arial"/>
                <a:cs typeface="Arial"/>
              </a:rPr>
              <a:t>Exportar e guardar</a:t>
            </a:r>
          </a:p>
        </p:txBody>
      </p:sp>
      <p:sp>
        <p:nvSpPr>
          <p:cNvPr id="17" name="Relatórios completos e backup.">
            <a:extLst xmlns:a="http://schemas.openxmlformats.org/drawingml/2006/main">
              <a:ext uri="{FF2B5EF4-FFF2-40B4-BE49-F238E27FC236}">
                <a16:creationId xmlns:a16="http://schemas.microsoft.com/office/drawing/2014/main" id="{FB03B20C-C98D-4210-A243-9C60F6B39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038725"/>
            <a:ext cx="22383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D7267"/>
                </a:solidFill>
                <a:latin typeface="Arial"/>
                <a:ea typeface="Arial"/>
                <a:cs typeface="Arial"/>
              </a:rPr>
              <a:t>Relatórios completos e backup.</a:t>
            </a:r>
          </a:p>
        </p:txBody>
      </p:sp>
    </p:spTree>
    <p:extLst>
      <p:ext uri="{BB962C8B-B14F-4D97-AF65-F5344CB8AC3E}">
        <p14:creationId xmlns:p14="http://schemas.microsoft.com/office/powerpoint/2010/main" val="16072447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LOONIEMIND">
            <a:extLst xmlns:a="http://schemas.openxmlformats.org/drawingml/2006/main">
              <a:ext uri="{FF2B5EF4-FFF2-40B4-BE49-F238E27FC236}">
                <a16:creationId xmlns:a16="http://schemas.microsoft.com/office/drawing/2014/main" id="{5D2B9E6F-064E-4AAA-9697-7A94515B6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8F83"/>
                </a:solidFill>
                <a:latin typeface="Arial"/>
                <a:ea typeface="Arial"/>
                <a:cs typeface="Arial"/>
              </a:rPr>
              <a:t>LOONIEMIND</a:t>
            </a:r>
          </a:p>
        </p:txBody>
      </p:sp>
      <p:sp>
        <p:nvSpPr>
          <p:cNvPr id="2" name="O que importa aparece primeiro.">
            <a:extLst xmlns:a="http://schemas.openxmlformats.org/drawingml/2006/main">
              <a:ext uri="{FF2B5EF4-FFF2-40B4-BE49-F238E27FC236}">
                <a16:creationId xmlns:a16="http://schemas.microsoft.com/office/drawing/2014/main" id="{22FC3B5E-BEAB-4E54-86FA-02F854A99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C35"/>
                </a:solidFill>
                <a:latin typeface="Arial"/>
                <a:ea typeface="Arial"/>
                <a:cs typeface="Arial"/>
              </a:rPr>
              <a:t>O que importa aparece primeiro.</a:t>
            </a:r>
          </a:p>
        </p:txBody>
      </p:sp>
      <p:sp>
        <p:nvSpPr>
          <p:cNvPr id="3" name="LoonieMind · Projeto de gestão finance">
            <a:extLst xmlns:a="http://schemas.openxmlformats.org/drawingml/2006/main">
              <a:ext uri="{FF2B5EF4-FFF2-40B4-BE49-F238E27FC236}">
                <a16:creationId xmlns:a16="http://schemas.microsoft.com/office/drawing/2014/main" id="{C49FCDAC-D3E0-4B45-A0D3-CE5AD8F23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7267"/>
                </a:solidFill>
                <a:latin typeface="Arial"/>
                <a:ea typeface="Arial"/>
                <a:cs typeface="Arial"/>
              </a:rPr>
              <a:t>LoonieMind · Projeto de gestão financeira</a:t>
            </a:r>
          </a:p>
        </p:txBody>
      </p:sp>
      <p:sp>
        <p:nvSpPr>
          <p:cNvPr id="4" name="03">
            <a:extLst xmlns:a="http://schemas.openxmlformats.org/drawingml/2006/main">
              <a:ext uri="{FF2B5EF4-FFF2-40B4-BE49-F238E27FC236}">
                <a16:creationId xmlns:a16="http://schemas.microsoft.com/office/drawing/2014/main" id="{80EFCE31-B8D9-4042-BA3A-4200E0430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6448425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8F8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Saldo consolidado">
            <a:extLst xmlns:a="http://schemas.openxmlformats.org/drawingml/2006/main">
              <a:ext uri="{FF2B5EF4-FFF2-40B4-BE49-F238E27FC236}">
                <a16:creationId xmlns:a16="http://schemas.microsoft.com/office/drawing/2014/main" id="{A3B883E9-F89D-43EC-A8BB-55259AF4C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9825"/>
            <a:ext cx="3905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C35"/>
                </a:solidFill>
                <a:latin typeface="Arial"/>
                <a:ea typeface="Arial"/>
                <a:cs typeface="Arial"/>
              </a:rPr>
              <a:t>Saldo consolidado</a:t>
            </a:r>
          </a:p>
        </p:txBody>
      </p:sp>
      <p:sp>
        <p:nvSpPr>
          <p:cNvPr id="6" name="Quanto há no caixa desde a referência.">
            <a:extLst xmlns:a="http://schemas.openxmlformats.org/drawingml/2006/main">
              <a:ext uri="{FF2B5EF4-FFF2-40B4-BE49-F238E27FC236}">
                <a16:creationId xmlns:a16="http://schemas.microsoft.com/office/drawing/2014/main" id="{C1CAD5FD-9301-4137-A644-F284A4867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3762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D7267"/>
                </a:solidFill>
                <a:latin typeface="Arial"/>
                <a:ea typeface="Arial"/>
                <a:cs typeface="Arial"/>
              </a:rPr>
              <a:t>Quanto há no caixa desde a referência.</a:t>
            </a:r>
          </a:p>
        </p:txBody>
      </p:sp>
      <p:sp>
        <p:nvSpPr>
          <p:cNvPr id="7" name="Resultado do período">
            <a:extLst xmlns:a="http://schemas.openxmlformats.org/drawingml/2006/main">
              <a:ext uri="{FF2B5EF4-FFF2-40B4-BE49-F238E27FC236}">
                <a16:creationId xmlns:a16="http://schemas.microsoft.com/office/drawing/2014/main" id="{B8B7DD1C-5AAB-4268-8575-6C3DA0621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71925"/>
            <a:ext cx="3905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C35"/>
                </a:solidFill>
                <a:latin typeface="Arial"/>
                <a:ea typeface="Arial"/>
                <a:cs typeface="Arial"/>
              </a:rPr>
              <a:t>Resultado do período</a:t>
            </a:r>
          </a:p>
        </p:txBody>
      </p:sp>
      <p:sp>
        <p:nvSpPr>
          <p:cNvPr id="8" name="Entradas e saídas da janela selecionad">
            <a:extLst xmlns:a="http://schemas.openxmlformats.org/drawingml/2006/main">
              <a:ext uri="{FF2B5EF4-FFF2-40B4-BE49-F238E27FC236}">
                <a16:creationId xmlns:a16="http://schemas.microsoft.com/office/drawing/2014/main" id="{49DC32E8-F9C2-4428-A0B1-237613B2A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67225"/>
            <a:ext cx="37623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D7267"/>
                </a:solidFill>
                <a:latin typeface="Arial"/>
                <a:ea typeface="Arial"/>
                <a:cs typeface="Arial"/>
              </a:rPr>
              <a:t>Entradas e saídas da janela selecionada.</a:t>
            </a:r>
          </a:p>
        </p:txBody>
      </p:sp>
      <p:sp>
        <p:nvSpPr>
          <p:cNvPr id="9" name="Pendências e próximos dias">
            <a:extLst xmlns:a="http://schemas.openxmlformats.org/drawingml/2006/main">
              <a:ext uri="{FF2B5EF4-FFF2-40B4-BE49-F238E27FC236}">
                <a16:creationId xmlns:a16="http://schemas.microsoft.com/office/drawing/2014/main" id="{6BB9A209-661D-421C-8C49-B463A2CA1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5450"/>
            <a:ext cx="3905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3C35"/>
                </a:solidFill>
                <a:latin typeface="Arial"/>
                <a:ea typeface="Arial"/>
                <a:cs typeface="Arial"/>
              </a:rPr>
              <a:t>Pendências e próximos dias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CD5F76-D1FE-4257-887B-44901E5020D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29fc9086f84c90"/>
          <a:stretch xmlns:a="http://schemas.openxmlformats.org/drawingml/2006/main"/>
        </p:blipFill>
        <p:spPr>
          <a:xfrm xmlns:a="http://schemas.openxmlformats.org/drawingml/2006/main">
            <a:off x="5029200" y="1698207"/>
            <a:ext cx="6477000" cy="449981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7833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LOONIEMIND">
            <a:extLst xmlns:a="http://schemas.openxmlformats.org/drawingml/2006/main">
              <a:ext uri="{FF2B5EF4-FFF2-40B4-BE49-F238E27FC236}">
                <a16:creationId xmlns:a16="http://schemas.microsoft.com/office/drawing/2014/main" id="{3BB3040D-DDD2-4F06-885C-F4306AFFB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8F83"/>
                </a:solidFill>
                <a:latin typeface="Arial"/>
                <a:ea typeface="Arial"/>
                <a:cs typeface="Arial"/>
              </a:rPr>
              <a:t>LOONIEMIND</a:t>
            </a:r>
          </a:p>
        </p:txBody>
      </p:sp>
      <p:sp>
        <p:nvSpPr>
          <p:cNvPr id="2" name="IA para sugerir. Revisão para confirma">
            <a:extLst xmlns:a="http://schemas.openxmlformats.org/drawingml/2006/main">
              <a:ext uri="{FF2B5EF4-FFF2-40B4-BE49-F238E27FC236}">
                <a16:creationId xmlns:a16="http://schemas.microsoft.com/office/drawing/2014/main" id="{68571FE6-DBCA-4EB2-9B68-41ED9253E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C35"/>
                </a:solidFill>
                <a:latin typeface="Arial"/>
                <a:ea typeface="Arial"/>
                <a:cs typeface="Arial"/>
              </a:rPr>
              <a:t>IA para sugerir. Revisão para confirmar.</a:t>
            </a:r>
          </a:p>
        </p:txBody>
      </p:sp>
      <p:sp>
        <p:nvSpPr>
          <p:cNvPr id="3" name="Descrição → TF-IDF de palavras e carac">
            <a:extLst xmlns:a="http://schemas.openxmlformats.org/drawingml/2006/main">
              <a:ext uri="{FF2B5EF4-FFF2-40B4-BE49-F238E27FC236}">
                <a16:creationId xmlns:a16="http://schemas.microsoft.com/office/drawing/2014/main" id="{4E3C2510-DDEA-440D-B8A1-109A95E06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1082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D7267"/>
                </a:solidFill>
                <a:latin typeface="Arial"/>
                <a:ea typeface="Arial"/>
                <a:cs typeface="Arial"/>
              </a:rPr>
              <a:t>Descrição → TF-IDF de palavras e caracteres → LightGBM → revisão</a:t>
            </a:r>
          </a:p>
        </p:txBody>
      </p:sp>
      <p:sp>
        <p:nvSpPr>
          <p:cNvPr id="4" name="LoonieMind · Projeto de gestão finance">
            <a:extLst xmlns:a="http://schemas.openxmlformats.org/drawingml/2006/main">
              <a:ext uri="{FF2B5EF4-FFF2-40B4-BE49-F238E27FC236}">
                <a16:creationId xmlns:a16="http://schemas.microsoft.com/office/drawing/2014/main" id="{F5EC6FD6-F6EF-407E-B9BE-06F855196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7267"/>
                </a:solidFill>
                <a:latin typeface="Arial"/>
                <a:ea typeface="Arial"/>
                <a:cs typeface="Arial"/>
              </a:rPr>
              <a:t>LoonieMind · Projeto de gestão financeira</a:t>
            </a:r>
          </a:p>
        </p:txBody>
      </p:sp>
      <p:sp>
        <p:nvSpPr>
          <p:cNvPr id="5" name="04">
            <a:extLst xmlns:a="http://schemas.openxmlformats.org/drawingml/2006/main">
              <a:ext uri="{FF2B5EF4-FFF2-40B4-BE49-F238E27FC236}">
                <a16:creationId xmlns:a16="http://schemas.microsoft.com/office/drawing/2014/main" id="{46363CD2-2E6A-4F1E-92A6-7B2954C42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6448425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8F8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14.400 exemplos · 12 classes">
            <a:extLst xmlns:a="http://schemas.openxmlformats.org/drawingml/2006/main">
              <a:ext uri="{FF2B5EF4-FFF2-40B4-BE49-F238E27FC236}">
                <a16:creationId xmlns:a16="http://schemas.microsoft.com/office/drawing/2014/main" id="{0CF45812-6C00-4715-8E94-CBB6C5187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477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defPPr>
            <a:lvl1pPr>
              <a:defRPr sz="24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1pPr>
            <a:lvl2pPr>
              <a:defRPr sz="24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2pPr>
            <a:lvl3pPr>
              <a:defRPr sz="24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3pPr>
            <a:lvl4pPr>
              <a:defRPr sz="24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4pPr>
            <a:lvl5pPr>
              <a:defRPr sz="24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5pPr>
            <a:lvl6pPr>
              <a:defRPr sz="24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6pPr>
            <a:lvl7pPr>
              <a:defRPr sz="24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7pPr>
            <a:lvl8pPr>
              <a:defRPr sz="24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8pPr>
            <a:lvl9pPr>
              <a:defRPr sz="24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58F83"/>
                </a:solidFill>
                <a:latin typeface="Arial"/>
                <a:ea typeface="Arial"/>
                <a:cs typeface="Arial"/>
              </a:rPr>
              <a:t>14.400 exemplos · 12 classes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EFE75C-816B-435A-8ABE-42EEB9A26B3B}"/>
              </a:ext>
            </a:extLst>
          </p:cNvPr>
          <p:cNvGraphicFramePr/>
          <p:nvPr/>
        </p:nvGraphicFramePr>
        <p:xfrm>
          <a:off xmlns:a="http://schemas.openxmlformats.org/drawingml/2006/main" x="685800" y="3514725"/>
          <a:ext xmlns:a="http://schemas.openxmlformats.org/drawingml/2006/main" cx="6324600" cy="21240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1809750"/>
                <a:gridCol w="1657350"/>
              </a:tblGrid>
              <a:tr h="531019">
                <a:tc>
                  <a:txBody>
                    <a:bodyPr lIns="114300" tIns="114300" rIns="114300" bIns="1143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Partição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E3DB"/>
                      </a:solidFill>
                      <a:prstDash val="solid"/>
                    </a:lnL>
                    <a:lnR w="9525">
                      <a:solidFill>
                        <a:srgbClr val="D5E3DB"/>
                      </a:solidFill>
                      <a:prstDash val="solid"/>
                    </a:lnR>
                    <a:lnT w="9525">
                      <a:solidFill>
                        <a:srgbClr val="D5E3DB"/>
                      </a:solidFill>
                      <a:prstDash val="solid"/>
                    </a:lnT>
                    <a:lnB w="9525">
                      <a:solidFill>
                        <a:srgbClr val="D5E3DB"/>
                      </a:solidFill>
                      <a:prstDash val="solid"/>
                    </a:lnB>
                    <a:solidFill>
                      <a:srgbClr val="173C35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Exemplos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3DB"/>
                      </a:solidFill>
                      <a:prstDash val="solid"/>
                    </a:lnR>
                    <a:lnT w="9525">
                      <a:solidFill>
                        <a:srgbClr val="D5E3DB"/>
                      </a:solidFill>
                      <a:prstDash val="solid"/>
                    </a:lnT>
                    <a:lnB w="9525">
                      <a:solidFill>
                        <a:srgbClr val="D5E3DB"/>
                      </a:solidFill>
                      <a:prstDash val="solid"/>
                    </a:lnB>
                    <a:solidFill>
                      <a:srgbClr val="173C35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Famílias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3DB"/>
                      </a:solidFill>
                      <a:prstDash val="solid"/>
                    </a:lnR>
                    <a:lnT w="9525">
                      <a:solidFill>
                        <a:srgbClr val="D5E3DB"/>
                      </a:solidFill>
                      <a:prstDash val="solid"/>
                    </a:lnT>
                    <a:lnB w="9525">
                      <a:solidFill>
                        <a:srgbClr val="D5E3DB"/>
                      </a:solidFill>
                      <a:prstDash val="solid"/>
                    </a:lnB>
                    <a:solidFill>
                      <a:srgbClr val="173C35"/>
                    </a:solidFill>
                  </a:tcPr>
                </a:tc>
              </a:tr>
              <a:tr h="531019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73C35"/>
                          </a:solidFill>
                          <a:latin typeface="Arial"/>
                          <a:ea typeface="Arial"/>
                          <a:cs typeface="Arial"/>
                        </a:rPr>
                        <a:t>Treino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E3DB"/>
                      </a:solidFill>
                      <a:prstDash val="solid"/>
                    </a:lnL>
                    <a:lnR w="9525">
                      <a:solidFill>
                        <a:srgbClr val="D5E3DB"/>
                      </a:solidFill>
                      <a:prstDash val="solid"/>
                    </a:lnR>
                    <a:lnB w="9525">
                      <a:solidFill>
                        <a:srgbClr val="D5E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73C35"/>
                          </a:solidFill>
                          <a:latin typeface="Arial"/>
                          <a:ea typeface="Arial"/>
                          <a:cs typeface="Arial"/>
                        </a:rPr>
                        <a:t>9.600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3DB"/>
                      </a:solidFill>
                      <a:prstDash val="solid"/>
                    </a:lnR>
                    <a:lnB w="9525">
                      <a:solidFill>
                        <a:srgbClr val="D5E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73C35"/>
                          </a:solidFill>
                          <a:latin typeface="Arial"/>
                          <a:ea typeface="Arial"/>
                          <a:cs typeface="Arial"/>
                        </a:rPr>
                        <a:t>192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3DB"/>
                      </a:solidFill>
                      <a:prstDash val="solid"/>
                    </a:lnR>
                    <a:lnB w="9525">
                      <a:solidFill>
                        <a:srgbClr val="D5E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1019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73C35"/>
                          </a:solidFill>
                          <a:latin typeface="Arial"/>
                          <a:ea typeface="Arial"/>
                          <a:cs typeface="Arial"/>
                        </a:rPr>
                        <a:t>Validação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E3DB"/>
                      </a:solidFill>
                      <a:prstDash val="solid"/>
                    </a:lnL>
                    <a:lnR w="9525">
                      <a:solidFill>
                        <a:srgbClr val="D5E3DB"/>
                      </a:solidFill>
                      <a:prstDash val="solid"/>
                    </a:lnR>
                    <a:lnB w="9525">
                      <a:solidFill>
                        <a:srgbClr val="D5E3DB"/>
                      </a:solidFill>
                      <a:prstDash val="solid"/>
                    </a:lnB>
                    <a:solidFill>
                      <a:srgbClr val="EDF3E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73C35"/>
                          </a:solidFill>
                          <a:latin typeface="Arial"/>
                          <a:ea typeface="Arial"/>
                          <a:cs typeface="Arial"/>
                        </a:rPr>
                        <a:t>2.400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3DB"/>
                      </a:solidFill>
                      <a:prstDash val="solid"/>
                    </a:lnR>
                    <a:lnB w="9525">
                      <a:solidFill>
                        <a:srgbClr val="D5E3DB"/>
                      </a:solidFill>
                      <a:prstDash val="solid"/>
                    </a:lnB>
                    <a:solidFill>
                      <a:srgbClr val="EDF3E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73C35"/>
                          </a:solidFill>
                          <a:latin typeface="Arial"/>
                          <a:ea typeface="Arial"/>
                          <a:cs typeface="Arial"/>
                        </a:rPr>
                        <a:t>48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3DB"/>
                      </a:solidFill>
                      <a:prstDash val="solid"/>
                    </a:lnR>
                    <a:lnB w="9525">
                      <a:solidFill>
                        <a:srgbClr val="D5E3DB"/>
                      </a:solidFill>
                      <a:prstDash val="solid"/>
                    </a:lnB>
                    <a:solidFill>
                      <a:srgbClr val="EDF3EF"/>
                    </a:solidFill>
                  </a:tcPr>
                </a:tc>
              </a:tr>
              <a:tr h="531019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73C35"/>
                          </a:solidFill>
                          <a:latin typeface="Arial"/>
                          <a:ea typeface="Arial"/>
                          <a:cs typeface="Arial"/>
                        </a:rPr>
                        <a:t>Teste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E3DB"/>
                      </a:solidFill>
                      <a:prstDash val="solid"/>
                    </a:lnL>
                    <a:lnR w="9525">
                      <a:solidFill>
                        <a:srgbClr val="D5E3DB"/>
                      </a:solidFill>
                      <a:prstDash val="solid"/>
                    </a:lnR>
                    <a:lnB w="9525">
                      <a:solidFill>
                        <a:srgbClr val="D5E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73C35"/>
                          </a:solidFill>
                          <a:latin typeface="Arial"/>
                          <a:ea typeface="Arial"/>
                          <a:cs typeface="Arial"/>
                        </a:rPr>
                        <a:t>2.400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3DB"/>
                      </a:solidFill>
                      <a:prstDash val="solid"/>
                    </a:lnR>
                    <a:lnB w="9525">
                      <a:solidFill>
                        <a:srgbClr val="D5E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73C35"/>
                          </a:solidFill>
                          <a:latin typeface="Arial"/>
                          <a:ea typeface="Arial"/>
                          <a:cs typeface="Arial"/>
                        </a:rPr>
                        <a:t>48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3DB"/>
                      </a:solidFill>
                      <a:prstDash val="solid"/>
                    </a:lnR>
                    <a:lnB w="9525">
                      <a:solidFill>
                        <a:srgbClr val="D5E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0,6766">
            <a:extLst xmlns:a="http://schemas.openxmlformats.org/drawingml/2006/main">
              <a:ext uri="{FF2B5EF4-FFF2-40B4-BE49-F238E27FC236}">
                <a16:creationId xmlns:a16="http://schemas.microsoft.com/office/drawing/2014/main" id="{4FC821FB-954D-48EA-85FC-98A3B0CAE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505200"/>
            <a:ext cx="3714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58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defPPr>
            <a:lvl1pPr>
              <a:defRPr sz="58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1pPr>
            <a:lvl2pPr>
              <a:defRPr sz="58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2pPr>
            <a:lvl3pPr>
              <a:defRPr sz="58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3pPr>
            <a:lvl4pPr>
              <a:defRPr sz="58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4pPr>
            <a:lvl5pPr>
              <a:defRPr sz="58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5pPr>
            <a:lvl6pPr>
              <a:defRPr sz="58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6pPr>
            <a:lvl7pPr>
              <a:defRPr sz="58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7pPr>
            <a:lvl8pPr>
              <a:defRPr sz="58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8pPr>
            <a:lvl9pPr>
              <a:defRPr sz="58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58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258F83"/>
                </a:solidFill>
                <a:latin typeface="Arial"/>
                <a:ea typeface="Arial"/>
                <a:cs typeface="Arial"/>
              </a:rPr>
              <a:t>0,6766</a:t>
            </a:r>
          </a:p>
        </p:txBody>
      </p:sp>
      <p:sp>
        <p:nvSpPr>
          <p:cNvPr id="9" name="F1 macro no teste">
            <a:extLst xmlns:a="http://schemas.openxmlformats.org/drawingml/2006/main">
              <a:ext uri="{FF2B5EF4-FFF2-40B4-BE49-F238E27FC236}">
                <a16:creationId xmlns:a16="http://schemas.microsoft.com/office/drawing/2014/main" id="{BB5917B4-5DDC-48FF-8CB4-41A0F48C0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600575"/>
            <a:ext cx="361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C35"/>
                </a:solidFill>
                <a:latin typeface="Arial"/>
                <a:ea typeface="Arial"/>
                <a:cs typeface="Arial"/>
              </a:rPr>
              <a:t>F1 macro no teste</a:t>
            </a:r>
          </a:p>
        </p:txBody>
      </p:sp>
      <p:sp>
        <p:nvSpPr>
          <p:cNvPr id="10" name="Resultado sintético.&#10;Validação real ai">
            <a:extLst xmlns:a="http://schemas.openxmlformats.org/drawingml/2006/main">
              <a:ext uri="{FF2B5EF4-FFF2-40B4-BE49-F238E27FC236}">
                <a16:creationId xmlns:a16="http://schemas.microsoft.com/office/drawing/2014/main" id="{E0A87BF4-6CE4-4706-9AE2-75FBF5654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133975"/>
            <a:ext cx="3619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D7267"/>
                </a:solidFill>
                <a:latin typeface="Arial"/>
                <a:ea typeface="Arial"/>
                <a:cs typeface="Arial"/>
              </a:rPr>
              <a:t>Resultado sintético.</a:t>
            </a:r>
          </a:p>
          <a:p xmlns:a="http://schemas.openxmlformats.org/drawingml/2006/main">
            <a:pPr>
              <a:defRPr sz="18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D7267"/>
                </a:solidFill>
                <a:latin typeface="Arial"/>
                <a:ea typeface="Arial"/>
                <a:cs typeface="Arial"/>
              </a:rPr>
              <a:t>Validação real ainda necessária.</a:t>
            </a:r>
          </a:p>
        </p:txBody>
      </p:sp>
      <p:sp>
        <p:nvSpPr>
          <p:cNvPr id="11" name="Famílias de descrição não são comparti">
            <a:extLst xmlns:a="http://schemas.openxmlformats.org/drawingml/2006/main">
              <a:ext uri="{FF2B5EF4-FFF2-40B4-BE49-F238E27FC236}">
                <a16:creationId xmlns:a16="http://schemas.microsoft.com/office/drawing/2014/main" id="{3FC91C0B-5261-4E54-A01D-9F9B1D5C5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10820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D7267"/>
                </a:solidFill>
                <a:latin typeface="Arial"/>
                <a:ea typeface="Arial"/>
                <a:cs typeface="Arial"/>
              </a:rPr>
              <a:t>Famílias de descrição não são compartilhadas entre as partições.</a:t>
            </a:r>
          </a:p>
        </p:txBody>
      </p:sp>
    </p:spTree>
    <p:extLst>
      <p:ext uri="{BB962C8B-B14F-4D97-AF65-F5344CB8AC3E}">
        <p14:creationId xmlns:p14="http://schemas.microsoft.com/office/powerpoint/2010/main" val="138054305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LOONIEMIND">
            <a:extLst xmlns:a="http://schemas.openxmlformats.org/drawingml/2006/main">
              <a:ext uri="{FF2B5EF4-FFF2-40B4-BE49-F238E27FC236}">
                <a16:creationId xmlns:a16="http://schemas.microsoft.com/office/drawing/2014/main" id="{48A30B11-1E33-4747-9782-745ECE552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8F83"/>
                </a:solidFill>
                <a:latin typeface="Arial"/>
                <a:ea typeface="Arial"/>
                <a:cs typeface="Arial"/>
              </a:rPr>
              <a:t>LOONIEMIND</a:t>
            </a:r>
          </a:p>
        </p:txBody>
      </p:sp>
      <p:sp>
        <p:nvSpPr>
          <p:cNvPr id="2" name="Prever é também medir o erro.">
            <a:extLst xmlns:a="http://schemas.openxmlformats.org/drawingml/2006/main">
              <a:ext uri="{FF2B5EF4-FFF2-40B4-BE49-F238E27FC236}">
                <a16:creationId xmlns:a16="http://schemas.microsoft.com/office/drawing/2014/main" id="{E94A6394-607F-4405-AAC5-D94C745EF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C35"/>
                </a:solidFill>
                <a:latin typeface="Arial"/>
                <a:ea typeface="Arial"/>
                <a:cs typeface="Arial"/>
              </a:rPr>
              <a:t>Prever é também medir o erro.</a:t>
            </a:r>
          </a:p>
        </p:txBody>
      </p:sp>
      <p:sp>
        <p:nvSpPr>
          <p:cNvPr id="3" name="Receitas e despesas são estimadas sepa">
            <a:extLst xmlns:a="http://schemas.openxmlformats.org/drawingml/2006/main">
              <a:ext uri="{FF2B5EF4-FFF2-40B4-BE49-F238E27FC236}">
                <a16:creationId xmlns:a16="http://schemas.microsoft.com/office/drawing/2014/main" id="{324B6AC4-05B1-430D-9F0E-E03C19ECB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1082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D7267"/>
                </a:solidFill>
                <a:latin typeface="Arial"/>
                <a:ea typeface="Arial"/>
                <a:cs typeface="Arial"/>
              </a:rPr>
              <a:t>Receitas e despesas são estimadas separadamente, com comparação temporal.</a:t>
            </a:r>
          </a:p>
        </p:txBody>
      </p:sp>
      <p:sp>
        <p:nvSpPr>
          <p:cNvPr id="4" name="LoonieMind · Projeto de gestão finance">
            <a:extLst xmlns:a="http://schemas.openxmlformats.org/drawingml/2006/main">
              <a:ext uri="{FF2B5EF4-FFF2-40B4-BE49-F238E27FC236}">
                <a16:creationId xmlns:a16="http://schemas.microsoft.com/office/drawing/2014/main" id="{25D90C10-8546-4ADD-81A7-B79A89565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7267"/>
                </a:solidFill>
                <a:latin typeface="Arial"/>
                <a:ea typeface="Arial"/>
                <a:cs typeface="Arial"/>
              </a:rPr>
              <a:t>LoonieMind · Projeto de gestão financeira</a:t>
            </a:r>
          </a:p>
        </p:txBody>
      </p:sp>
      <p:sp>
        <p:nvSpPr>
          <p:cNvPr id="5" name="05">
            <a:extLst xmlns:a="http://schemas.openxmlformats.org/drawingml/2006/main">
              <a:ext uri="{FF2B5EF4-FFF2-40B4-BE49-F238E27FC236}">
                <a16:creationId xmlns:a16="http://schemas.microsoft.com/office/drawing/2014/main" id="{4C633EA2-71E1-4220-B5BD-AEA44433B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6448425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8F8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1140E0EA-E837-4D4D-8091-1CC2D09CF52D}"/>
              </a:ext>
            </a:extLst>
          </p:cNvPr>
          <p:cNvGraphicFramePr/>
          <p:nvPr/>
        </p:nvGraphicFramePr>
        <p:xfrm>
          <a:off xmlns:a="http://schemas.openxmlformats.org/drawingml/2006/main" x="685800" y="2781300"/>
          <a:ext xmlns:a="http://schemas.openxmlformats.org/drawingml/2006/main" cx="6191250" cy="30765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fc18580563047b8"/>
          </a:graphicData>
        </a:graphic>
      </p:graphicFrame>
      <p:sp>
        <p:nvSpPr>
          <p:cNvPr id="7" name="21 dias reservados">
            <a:extLst xmlns:a="http://schemas.openxmlformats.org/drawingml/2006/main">
              <a:ext uri="{FF2B5EF4-FFF2-40B4-BE49-F238E27FC236}">
                <a16:creationId xmlns:a16="http://schemas.microsoft.com/office/drawing/2014/main" id="{43BB0051-5703-490D-ABEB-439B06E5F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2828925"/>
            <a:ext cx="3905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C35"/>
                </a:solidFill>
                <a:latin typeface="Arial"/>
                <a:ea typeface="Arial"/>
                <a:cs typeface="Arial"/>
              </a:rPr>
              <a:t>21 dias reservados</a:t>
            </a:r>
          </a:p>
        </p:txBody>
      </p:sp>
      <p:sp>
        <p:nvSpPr>
          <p:cNvPr id="8" name="Validação cronológica,&#10;sem consultar o">
            <a:extLst xmlns:a="http://schemas.openxmlformats.org/drawingml/2006/main">
              <a:ext uri="{FF2B5EF4-FFF2-40B4-BE49-F238E27FC236}">
                <a16:creationId xmlns:a16="http://schemas.microsoft.com/office/drawing/2014/main" id="{B8F453FC-4A3D-485A-A666-B2EA4C8A3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333375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D7267"/>
                </a:solidFill>
                <a:latin typeface="Arial"/>
                <a:ea typeface="Arial"/>
                <a:cs typeface="Arial"/>
              </a:rPr>
              <a:t>Validação cronológica,</a:t>
            </a:r>
          </a:p>
          <a:p xmlns:a="http://schemas.openxmlformats.org/drawingml/2006/main">
            <a:pPr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D7267"/>
                </a:solidFill>
                <a:latin typeface="Arial"/>
                <a:ea typeface="Arial"/>
                <a:cs typeface="Arial"/>
              </a:rPr>
              <a:t>sem consultar o futuro.</a:t>
            </a:r>
          </a:p>
        </p:txBody>
      </p:sp>
      <p:sp>
        <p:nvSpPr>
          <p:cNvPr id="9" name="O menor erro decide">
            <a:extLst xmlns:a="http://schemas.openxmlformats.org/drawingml/2006/main">
              <a:ext uri="{FF2B5EF4-FFF2-40B4-BE49-F238E27FC236}">
                <a16:creationId xmlns:a16="http://schemas.microsoft.com/office/drawing/2014/main" id="{76A1A937-B654-4938-AF03-D3FC70EE1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4343400"/>
            <a:ext cx="3905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C35"/>
                </a:solidFill>
                <a:latin typeface="Arial"/>
                <a:ea typeface="Arial"/>
                <a:cs typeface="Arial"/>
              </a:rPr>
              <a:t>O menor erro decide</a:t>
            </a:r>
          </a:p>
        </p:txBody>
      </p:sp>
      <p:sp>
        <p:nvSpPr>
          <p:cNvPr id="10" name="A referência semanal venceu nas receit">
            <a:extLst xmlns:a="http://schemas.openxmlformats.org/drawingml/2006/main">
              <a:ext uri="{FF2B5EF4-FFF2-40B4-BE49-F238E27FC236}">
                <a16:creationId xmlns:a16="http://schemas.microsoft.com/office/drawing/2014/main" id="{3792C346-D40C-4DE8-ABB5-EAA7AD9E2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4848225"/>
            <a:ext cx="3905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D7267"/>
                </a:solidFill>
                <a:latin typeface="Arial"/>
                <a:ea typeface="Arial"/>
                <a:cs typeface="Arial"/>
              </a:rPr>
              <a:t>A referência semanal venceu nas receitas do cenário Studio.</a:t>
            </a:r>
          </a:p>
        </p:txBody>
      </p:sp>
      <p:sp>
        <p:nvSpPr>
          <p:cNvPr id="11" name="Dados fictícios · 07–27/out/2026 · Est">
            <a:extLst xmlns:a="http://schemas.openxmlformats.org/drawingml/2006/main">
              <a:ext uri="{FF2B5EF4-FFF2-40B4-BE49-F238E27FC236}">
                <a16:creationId xmlns:a16="http://schemas.microsoft.com/office/drawing/2014/main" id="{86D08A7F-82DA-499F-A677-6EA4A4F8A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48375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D7267"/>
                </a:solidFill>
                <a:latin typeface="Arial"/>
                <a:ea typeface="Arial"/>
                <a:cs typeface="Arial"/>
              </a:rPr>
              <a:t>Dados fictícios · 07–27/out/2026 · Estimativa, sem garantia de saldo futuro.</a:t>
            </a:r>
          </a:p>
        </p:txBody>
      </p:sp>
    </p:spTree>
    <p:extLst>
      <p:ext uri="{BB962C8B-B14F-4D97-AF65-F5344CB8AC3E}">
        <p14:creationId xmlns:p14="http://schemas.microsoft.com/office/powerpoint/2010/main" val="105909671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LOONIEMIND">
            <a:extLst xmlns:a="http://schemas.openxmlformats.org/drawingml/2006/main">
              <a:ext uri="{FF2B5EF4-FFF2-40B4-BE49-F238E27FC236}">
                <a16:creationId xmlns:a16="http://schemas.microsoft.com/office/drawing/2014/main" id="{3895A50A-3631-4E01-80D1-C3F99C065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8F83"/>
                </a:solidFill>
                <a:latin typeface="Arial"/>
                <a:ea typeface="Arial"/>
                <a:cs typeface="Arial"/>
              </a:rPr>
              <a:t>LOONIEMIND</a:t>
            </a:r>
          </a:p>
        </p:txBody>
      </p:sp>
      <p:sp>
        <p:nvSpPr>
          <p:cNvPr id="2" name="Um ciclo completo, pronto para evoluir">
            <a:extLst xmlns:a="http://schemas.openxmlformats.org/drawingml/2006/main">
              <a:ext uri="{FF2B5EF4-FFF2-40B4-BE49-F238E27FC236}">
                <a16:creationId xmlns:a16="http://schemas.microsoft.com/office/drawing/2014/main" id="{0F2F0949-67B8-48E3-BC38-47CCEDDC2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C35"/>
                </a:solidFill>
                <a:latin typeface="Arial"/>
                <a:ea typeface="Arial"/>
                <a:cs typeface="Arial"/>
              </a:rPr>
              <a:t>Um ciclo completo, pronto para evoluir.</a:t>
            </a:r>
          </a:p>
        </p:txBody>
      </p:sp>
      <p:sp>
        <p:nvSpPr>
          <p:cNvPr id="3" name="LoonieMind · Projeto de gestão finance">
            <a:extLst xmlns:a="http://schemas.openxmlformats.org/drawingml/2006/main">
              <a:ext uri="{FF2B5EF4-FFF2-40B4-BE49-F238E27FC236}">
                <a16:creationId xmlns:a16="http://schemas.microsoft.com/office/drawing/2014/main" id="{1D1CD7A5-38AE-4405-8560-23F3BD983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7267"/>
                </a:solidFill>
                <a:latin typeface="Arial"/>
                <a:ea typeface="Arial"/>
                <a:cs typeface="Arial"/>
              </a:rPr>
              <a:t>LoonieMind · Projeto de gestão financeira</a:t>
            </a:r>
          </a:p>
        </p:txBody>
      </p:sp>
      <p:sp>
        <p:nvSpPr>
          <p:cNvPr id="4" name="06">
            <a:extLst xmlns:a="http://schemas.openxmlformats.org/drawingml/2006/main">
              <a:ext uri="{FF2B5EF4-FFF2-40B4-BE49-F238E27FC236}">
                <a16:creationId xmlns:a16="http://schemas.microsoft.com/office/drawing/2014/main" id="{9FC8A9E5-252B-47B6-BB4D-9DB4D37A4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6448425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8F8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HOJE">
            <a:extLst xmlns:a="http://schemas.openxmlformats.org/drawingml/2006/main">
              <a:ext uri="{FF2B5EF4-FFF2-40B4-BE49-F238E27FC236}">
                <a16:creationId xmlns:a16="http://schemas.microsoft.com/office/drawing/2014/main" id="{8E505B40-B716-4EA9-AC9E-4C35ABEFB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86025"/>
            <a:ext cx="504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58F83"/>
                </a:solidFill>
                <a:latin typeface="Arial"/>
                <a:ea typeface="Arial"/>
                <a:cs typeface="Arial"/>
              </a:rPr>
              <a:t>HOJE</a:t>
            </a:r>
          </a:p>
        </p:txBody>
      </p:sp>
      <p:sp>
        <p:nvSpPr>
          <p:cNvPr id="6" name="Importar e revisar&#10;Acompanhar e prever">
            <a:extLst xmlns:a="http://schemas.openxmlformats.org/drawingml/2006/main">
              <a:ext uri="{FF2B5EF4-FFF2-40B4-BE49-F238E27FC236}">
                <a16:creationId xmlns:a16="http://schemas.microsoft.com/office/drawing/2014/main" id="{DA5D477E-3636-40C2-88C7-C0A84A4B6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5095875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defPPr>
            <a:lvl1pPr>
              <a:defRPr sz="2625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1pPr>
            <a:lvl2pPr>
              <a:defRPr sz="2625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2pPr>
            <a:lvl3pPr>
              <a:defRPr sz="2625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3pPr>
            <a:lvl4pPr>
              <a:defRPr sz="2625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4pPr>
            <a:lvl5pPr>
              <a:defRPr sz="2625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5pPr>
            <a:lvl6pPr>
              <a:defRPr sz="2625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6pPr>
            <a:lvl7pPr>
              <a:defRPr sz="2625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7pPr>
            <a:lvl8pPr>
              <a:defRPr sz="2625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8pPr>
            <a:lvl9pPr>
              <a:defRPr sz="2625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3C35"/>
                </a:solidFill>
                <a:latin typeface="Arial"/>
                <a:ea typeface="Arial"/>
                <a:cs typeface="Arial"/>
              </a:rPr>
              <a:t>Importar e revisar</a:t>
            </a:r>
          </a:p>
          <a:p xmlns:a="http://schemas.openxmlformats.org/drawingml/2006/main">
            <a:pPr>
              <a:defRPr sz="2625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3C35"/>
                </a:solidFill>
                <a:latin typeface="Arial"/>
                <a:ea typeface="Arial"/>
                <a:cs typeface="Arial"/>
              </a:rPr>
              <a:t>Acompanhar e prever</a:t>
            </a:r>
          </a:p>
          <a:p xmlns:a="http://schemas.openxmlformats.org/drawingml/2006/main">
            <a:pPr>
              <a:defRPr sz="2625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3C35"/>
                </a:solidFill>
                <a:latin typeface="Arial"/>
                <a:ea typeface="Arial"/>
                <a:cs typeface="Arial"/>
              </a:rPr>
              <a:t>Exportar e recuperar</a:t>
            </a:r>
          </a:p>
        </p:txBody>
      </p:sp>
      <p:sp>
        <p:nvSpPr>
          <p:cNvPr id="7" name="10.965 movimentos financeiros fictício">
            <a:extLst xmlns:a="http://schemas.openxmlformats.org/drawingml/2006/main">
              <a:ext uri="{FF2B5EF4-FFF2-40B4-BE49-F238E27FC236}">
                <a16:creationId xmlns:a16="http://schemas.microsoft.com/office/drawing/2014/main" id="{3EFE4F05-0CC9-4A5E-8680-01B2B205B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5238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D7267"/>
                </a:solidFill>
                <a:latin typeface="Arial"/>
                <a:ea typeface="Arial"/>
                <a:cs typeface="Arial"/>
              </a:rPr>
              <a:t>10.965 movimentos financeiros fictícios,</a:t>
            </a:r>
          </a:p>
          <a:p xmlns:a="http://schemas.openxmlformats.org/drawingml/2006/main">
            <a:pPr>
              <a:defRPr sz="18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D7267"/>
                </a:solidFill>
                <a:latin typeface="Arial"/>
                <a:ea typeface="Arial"/>
                <a:cs typeface="Arial"/>
              </a:rPr>
              <a:t>além dos exemplos de classificação.</a:t>
            </a:r>
          </a:p>
        </p:txBody>
      </p:sp>
      <p:sp>
        <p:nvSpPr>
          <p:cNvPr id="8" name="PRÓXIMOS PASSOS">
            <a:extLst xmlns:a="http://schemas.openxmlformats.org/drawingml/2006/main">
              <a:ext uri="{FF2B5EF4-FFF2-40B4-BE49-F238E27FC236}">
                <a16:creationId xmlns:a16="http://schemas.microsoft.com/office/drawing/2014/main" id="{C117A7C3-E016-4382-B08C-7060E5CE4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86025"/>
            <a:ext cx="4552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58F83"/>
                </a:solidFill>
                <a:latin typeface="Arial"/>
                <a:ea typeface="Arial"/>
                <a:cs typeface="Arial"/>
              </a:rPr>
              <a:t>PRÓXIMOS PASSOS</a:t>
            </a:r>
          </a:p>
        </p:txBody>
      </p:sp>
      <p:sp>
        <p:nvSpPr>
          <p:cNvPr id="9" name="Validar com dados reais&#10;Acompanhar os ">
            <a:extLst xmlns:a="http://schemas.openxmlformats.org/drawingml/2006/main">
              <a:ext uri="{FF2B5EF4-FFF2-40B4-BE49-F238E27FC236}">
                <a16:creationId xmlns:a16="http://schemas.microsoft.com/office/drawing/2014/main" id="{DE5B6444-150E-4F36-8C2D-B1AA1533E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86100"/>
            <a:ext cx="455295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3C35"/>
                </a:solidFill>
                <a:latin typeface="Arial"/>
                <a:ea typeface="Arial"/>
                <a:cs typeface="Arial"/>
              </a:rPr>
              <a:t>Validar com dados reais</a:t>
            </a:r>
          </a:p>
          <a:p xmlns:a="http://schemas.openxmlformats.org/drawingml/2006/main">
            <a:pPr>
              <a:defRPr sz="24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3C35"/>
                </a:solidFill>
                <a:latin typeface="Arial"/>
                <a:ea typeface="Arial"/>
                <a:cs typeface="Arial"/>
              </a:rPr>
              <a:t>Acompanhar os erros</a:t>
            </a:r>
          </a:p>
          <a:p xmlns:a="http://schemas.openxmlformats.org/drawingml/2006/main">
            <a:pPr>
              <a:defRPr sz="24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3C35"/>
                </a:solidFill>
                <a:latin typeface="Arial"/>
                <a:ea typeface="Arial"/>
                <a:cs typeface="Arial"/>
              </a:rPr>
              <a:t>Preparar o uso compartilhado</a:t>
            </a:r>
          </a:p>
        </p:txBody>
      </p:sp>
      <p:sp>
        <p:nvSpPr>
          <p:cNvPr id="10" name="Organização, transparência e IA&#10;sob su">
            <a:extLst xmlns:a="http://schemas.openxmlformats.org/drawingml/2006/main">
              <a:ext uri="{FF2B5EF4-FFF2-40B4-BE49-F238E27FC236}">
                <a16:creationId xmlns:a16="http://schemas.microsoft.com/office/drawing/2014/main" id="{D8017076-2EB8-4DDE-AE9F-99A981FFE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238750"/>
            <a:ext cx="45529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D7267"/>
                </a:solidFill>
                <a:latin typeface="Arial"/>
                <a:ea typeface="Arial"/>
                <a:cs typeface="Arial"/>
              </a:rPr>
              <a:t>Organização, transparência e IA</a:t>
            </a:r>
          </a:p>
          <a:p xmlns:a="http://schemas.openxmlformats.org/drawingml/2006/main">
            <a:pPr>
              <a:defRPr sz="18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D7267"/>
                </a:solidFill>
                <a:latin typeface="Arial"/>
                <a:ea typeface="Arial"/>
                <a:cs typeface="Arial"/>
              </a:rPr>
              <a:t>sob supervisão humana.</a:t>
            </a:r>
          </a:p>
        </p:txBody>
      </p:sp>
    </p:spTree>
    <p:extLst>
      <p:ext uri="{BB962C8B-B14F-4D97-AF65-F5344CB8AC3E}">
        <p14:creationId xmlns:p14="http://schemas.microsoft.com/office/powerpoint/2010/main" val="20187172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2026-10-28T00:15:51.1210000Z</dcterms:created>
  <dcterms:modified xsi:type="dcterms:W3CDTF">2026-10-28T00:15:51.1210000Z</dcterms:modified>
</coreProperties>
</file>